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9"/>
  </p:notesMasterIdLst>
  <p:sldIdLst>
    <p:sldId id="263" r:id="rId5"/>
    <p:sldId id="301" r:id="rId6"/>
    <p:sldId id="280" r:id="rId7"/>
    <p:sldId id="265" r:id="rId8"/>
    <p:sldId id="281" r:id="rId9"/>
    <p:sldId id="282" r:id="rId10"/>
    <p:sldId id="283" r:id="rId11"/>
    <p:sldId id="305" r:id="rId12"/>
    <p:sldId id="303" r:id="rId13"/>
    <p:sldId id="297" r:id="rId14"/>
    <p:sldId id="302" r:id="rId15"/>
    <p:sldId id="288" r:id="rId16"/>
    <p:sldId id="292" r:id="rId17"/>
    <p:sldId id="298" r:id="rId18"/>
    <p:sldId id="300" r:id="rId19"/>
    <p:sldId id="307" r:id="rId20"/>
    <p:sldId id="306" r:id="rId21"/>
    <p:sldId id="293" r:id="rId22"/>
    <p:sldId id="294" r:id="rId23"/>
    <p:sldId id="296" r:id="rId24"/>
    <p:sldId id="295" r:id="rId25"/>
    <p:sldId id="299" r:id="rId26"/>
    <p:sldId id="26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956A44"/>
    <a:srgbClr val="DA1A32"/>
    <a:srgbClr val="5D6771"/>
    <a:srgbClr val="C92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92"/>
    <p:restoredTop sz="96301"/>
  </p:normalViewPr>
  <p:slideViewPr>
    <p:cSldViewPr snapToGrid="0" snapToObjects="1">
      <p:cViewPr>
        <p:scale>
          <a:sx n="50" d="100"/>
          <a:sy n="50" d="100"/>
        </p:scale>
        <p:origin x="1480" y="3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79C52-D856-4C48-90A2-0335E1237E37}"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80C2D3-A9B2-7742-8D46-DA2EFB754E94}" type="slidenum">
              <a:rPr lang="en-US" smtClean="0"/>
              <a:t>‹#›</a:t>
            </a:fld>
            <a:endParaRPr lang="en-US"/>
          </a:p>
        </p:txBody>
      </p:sp>
    </p:spTree>
    <p:extLst>
      <p:ext uri="{BB962C8B-B14F-4D97-AF65-F5344CB8AC3E}">
        <p14:creationId xmlns:p14="http://schemas.microsoft.com/office/powerpoint/2010/main" val="1143069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monste</a:t>
            </a:r>
            <a:endParaRPr lang="en-US" dirty="0"/>
          </a:p>
        </p:txBody>
      </p:sp>
      <p:sp>
        <p:nvSpPr>
          <p:cNvPr id="4" name="Slide Number Placeholder 3"/>
          <p:cNvSpPr>
            <a:spLocks noGrp="1"/>
          </p:cNvSpPr>
          <p:nvPr>
            <p:ph type="sldNum" sz="quarter" idx="5"/>
          </p:nvPr>
        </p:nvSpPr>
        <p:spPr/>
        <p:txBody>
          <a:bodyPr/>
          <a:lstStyle/>
          <a:p>
            <a:fld id="{0C80C2D3-A9B2-7742-8D46-DA2EFB754E94}" type="slidenum">
              <a:rPr lang="en-US" smtClean="0"/>
              <a:t>1</a:t>
            </a:fld>
            <a:endParaRPr lang="en-US"/>
          </a:p>
        </p:txBody>
      </p:sp>
    </p:spTree>
    <p:extLst>
      <p:ext uri="{BB962C8B-B14F-4D97-AF65-F5344CB8AC3E}">
        <p14:creationId xmlns:p14="http://schemas.microsoft.com/office/powerpoint/2010/main" val="724366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CT images were obtained from the LIDC-IDRI dataset, which contains pulmonary nodule annotations provided by multiple radiologists.</a:t>
            </a:r>
            <a:br>
              <a:rPr lang="en-US" dirty="0"/>
            </a:br>
            <a:r>
              <a:rPr lang="en-US" dirty="0"/>
              <a:t>Each nodule includes a malignancy score used to define the classification label.</a:t>
            </a:r>
          </a:p>
          <a:p>
            <a:endParaRPr lang="en-US" dirty="0"/>
          </a:p>
        </p:txBody>
      </p:sp>
      <p:sp>
        <p:nvSpPr>
          <p:cNvPr id="4" name="Slide Number Placeholder 3"/>
          <p:cNvSpPr>
            <a:spLocks noGrp="1"/>
          </p:cNvSpPr>
          <p:nvPr>
            <p:ph type="sldNum" sz="quarter" idx="5"/>
          </p:nvPr>
        </p:nvSpPr>
        <p:spPr/>
        <p:txBody>
          <a:bodyPr/>
          <a:lstStyle/>
          <a:p>
            <a:fld id="{0C80C2D3-A9B2-7742-8D46-DA2EFB754E94}" type="slidenum">
              <a:rPr lang="en-US" smtClean="0"/>
              <a:t>7</a:t>
            </a:fld>
            <a:endParaRPr lang="en-US"/>
          </a:p>
        </p:txBody>
      </p:sp>
    </p:spTree>
    <p:extLst>
      <p:ext uri="{BB962C8B-B14F-4D97-AF65-F5344CB8AC3E}">
        <p14:creationId xmlns:p14="http://schemas.microsoft.com/office/powerpoint/2010/main" val="3765226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72179-DE7F-ABD1-C298-F7C94B627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160EB-767F-BBA8-311F-05C44860F7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C42D2A-7921-16CA-912C-A90D7474D4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CT images were obtained from the LIDC-IDRI dataset, which contains pulmonary nodule annotations provided by multiple radiologists.</a:t>
            </a:r>
            <a:br>
              <a:rPr lang="en-US" dirty="0"/>
            </a:br>
            <a:r>
              <a:rPr lang="en-US" dirty="0"/>
              <a:t>Each nodule includes a malignancy score used to define the classification label.</a:t>
            </a:r>
          </a:p>
          <a:p>
            <a:endParaRPr lang="en-US" dirty="0"/>
          </a:p>
        </p:txBody>
      </p:sp>
      <p:sp>
        <p:nvSpPr>
          <p:cNvPr id="4" name="Slide Number Placeholder 3">
            <a:extLst>
              <a:ext uri="{FF2B5EF4-FFF2-40B4-BE49-F238E27FC236}">
                <a16:creationId xmlns:a16="http://schemas.microsoft.com/office/drawing/2014/main" id="{1136DEFF-2FA4-0D79-16B0-A7E89BC37A7D}"/>
              </a:ext>
            </a:extLst>
          </p:cNvPr>
          <p:cNvSpPr>
            <a:spLocks noGrp="1"/>
          </p:cNvSpPr>
          <p:nvPr>
            <p:ph type="sldNum" sz="quarter" idx="5"/>
          </p:nvPr>
        </p:nvSpPr>
        <p:spPr/>
        <p:txBody>
          <a:bodyPr/>
          <a:lstStyle/>
          <a:p>
            <a:fld id="{0C80C2D3-A9B2-7742-8D46-DA2EFB754E94}" type="slidenum">
              <a:rPr lang="en-US" smtClean="0"/>
              <a:t>8</a:t>
            </a:fld>
            <a:endParaRPr lang="en-US"/>
          </a:p>
        </p:txBody>
      </p:sp>
    </p:spTree>
    <p:extLst>
      <p:ext uri="{BB962C8B-B14F-4D97-AF65-F5344CB8AC3E}">
        <p14:creationId xmlns:p14="http://schemas.microsoft.com/office/powerpoint/2010/main" val="2338727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932CE-A1DF-D1A8-57F2-24C4906D3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6ABE6-2335-E9C2-81AD-2786648658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AE501F-FA97-588E-20CE-954CE1F1E0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CT images were obtained from the LIDC-IDRI dataset, which contains pulmonary nodule annotations provided by multiple radiologists.</a:t>
            </a:r>
            <a:br>
              <a:rPr lang="en-US" dirty="0"/>
            </a:br>
            <a:r>
              <a:rPr lang="en-US" dirty="0"/>
              <a:t>Each nodule includes a malignancy score used to define the classification label.</a:t>
            </a:r>
          </a:p>
          <a:p>
            <a:endParaRPr lang="en-US" dirty="0"/>
          </a:p>
        </p:txBody>
      </p:sp>
      <p:sp>
        <p:nvSpPr>
          <p:cNvPr id="4" name="Slide Number Placeholder 3">
            <a:extLst>
              <a:ext uri="{FF2B5EF4-FFF2-40B4-BE49-F238E27FC236}">
                <a16:creationId xmlns:a16="http://schemas.microsoft.com/office/drawing/2014/main" id="{A8B3AEE0-306B-E50A-083D-F46A04209209}"/>
              </a:ext>
            </a:extLst>
          </p:cNvPr>
          <p:cNvSpPr>
            <a:spLocks noGrp="1"/>
          </p:cNvSpPr>
          <p:nvPr>
            <p:ph type="sldNum" sz="quarter" idx="5"/>
          </p:nvPr>
        </p:nvSpPr>
        <p:spPr/>
        <p:txBody>
          <a:bodyPr/>
          <a:lstStyle/>
          <a:p>
            <a:fld id="{0C80C2D3-A9B2-7742-8D46-DA2EFB754E94}" type="slidenum">
              <a:rPr lang="en-US" smtClean="0"/>
              <a:t>9</a:t>
            </a:fld>
            <a:endParaRPr lang="en-US"/>
          </a:p>
        </p:txBody>
      </p:sp>
    </p:spTree>
    <p:extLst>
      <p:ext uri="{BB962C8B-B14F-4D97-AF65-F5344CB8AC3E}">
        <p14:creationId xmlns:p14="http://schemas.microsoft.com/office/powerpoint/2010/main" val="2321262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77E9E-8185-06D9-3464-EC8F8AE4C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0F992-278D-09F9-0E54-3010441C5D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48E6B1-1489-17AA-32E3-03CECC13895B}"/>
              </a:ext>
            </a:extLst>
          </p:cNvPr>
          <p:cNvSpPr>
            <a:spLocks noGrp="1"/>
          </p:cNvSpPr>
          <p:nvPr>
            <p:ph type="body" idx="1"/>
          </p:nvPr>
        </p:nvSpPr>
        <p:spPr/>
        <p:txBody>
          <a:bodyPr/>
          <a:lstStyle/>
          <a:p>
            <a:r>
              <a:rPr lang="en-US" dirty="0"/>
              <a:t>To evaluate the proposed radiomics-based classification approach, multiple machine learning models were selected as baseline classifiers.</a:t>
            </a:r>
            <a:br>
              <a:rPr lang="en-US" dirty="0"/>
            </a:br>
            <a:r>
              <a:rPr lang="en-US" dirty="0"/>
              <a:t>These models were chosen to compare interpretable linear methods with nonlinear and ensemble methods that are commonly used in radiomics studies.</a:t>
            </a:r>
          </a:p>
        </p:txBody>
      </p:sp>
      <p:sp>
        <p:nvSpPr>
          <p:cNvPr id="4" name="Slide Number Placeholder 3">
            <a:extLst>
              <a:ext uri="{FF2B5EF4-FFF2-40B4-BE49-F238E27FC236}">
                <a16:creationId xmlns:a16="http://schemas.microsoft.com/office/drawing/2014/main" id="{95FD52C3-1FE3-2644-78DD-E25FED0A2199}"/>
              </a:ext>
            </a:extLst>
          </p:cNvPr>
          <p:cNvSpPr>
            <a:spLocks noGrp="1"/>
          </p:cNvSpPr>
          <p:nvPr>
            <p:ph type="sldNum" sz="quarter" idx="5"/>
          </p:nvPr>
        </p:nvSpPr>
        <p:spPr/>
        <p:txBody>
          <a:bodyPr/>
          <a:lstStyle/>
          <a:p>
            <a:fld id="{0C80C2D3-A9B2-7742-8D46-DA2EFB754E94}" type="slidenum">
              <a:rPr lang="en-US" smtClean="0"/>
              <a:t>10</a:t>
            </a:fld>
            <a:endParaRPr lang="en-US"/>
          </a:p>
        </p:txBody>
      </p:sp>
    </p:spTree>
    <p:extLst>
      <p:ext uri="{BB962C8B-B14F-4D97-AF65-F5344CB8AC3E}">
        <p14:creationId xmlns:p14="http://schemas.microsoft.com/office/powerpoint/2010/main" val="1286737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ACEC4-9BEC-FC07-B341-4376F2F02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D0317-BA02-95BA-9FDC-B4E8E37B35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EEE7C2-4C3B-B6ED-483E-81B4ECBE8ED1}"/>
              </a:ext>
            </a:extLst>
          </p:cNvPr>
          <p:cNvSpPr>
            <a:spLocks noGrp="1"/>
          </p:cNvSpPr>
          <p:nvPr>
            <p:ph type="body" idx="1"/>
          </p:nvPr>
        </p:nvSpPr>
        <p:spPr/>
        <p:txBody>
          <a:bodyPr/>
          <a:lstStyle/>
          <a:p>
            <a:r>
              <a:rPr lang="en-US" dirty="0"/>
              <a:t>To evaluate the proposed radiomics-based classification approach, multiple machine learning models were selected as baseline classifiers.</a:t>
            </a:r>
            <a:br>
              <a:rPr lang="en-US" dirty="0"/>
            </a:br>
            <a:r>
              <a:rPr lang="en-US" dirty="0"/>
              <a:t>These models were chosen to compare interpretable linear methods with nonlinear and ensemble methods that are commonly used in radiomics studies.</a:t>
            </a:r>
          </a:p>
        </p:txBody>
      </p:sp>
      <p:sp>
        <p:nvSpPr>
          <p:cNvPr id="4" name="Slide Number Placeholder 3">
            <a:extLst>
              <a:ext uri="{FF2B5EF4-FFF2-40B4-BE49-F238E27FC236}">
                <a16:creationId xmlns:a16="http://schemas.microsoft.com/office/drawing/2014/main" id="{086F2167-CA1D-ADE6-09FD-0DF38719642D}"/>
              </a:ext>
            </a:extLst>
          </p:cNvPr>
          <p:cNvSpPr>
            <a:spLocks noGrp="1"/>
          </p:cNvSpPr>
          <p:nvPr>
            <p:ph type="sldNum" sz="quarter" idx="5"/>
          </p:nvPr>
        </p:nvSpPr>
        <p:spPr/>
        <p:txBody>
          <a:bodyPr/>
          <a:lstStyle/>
          <a:p>
            <a:fld id="{0C80C2D3-A9B2-7742-8D46-DA2EFB754E94}" type="slidenum">
              <a:rPr lang="en-US" smtClean="0"/>
              <a:t>11</a:t>
            </a:fld>
            <a:endParaRPr lang="en-US"/>
          </a:p>
        </p:txBody>
      </p:sp>
    </p:spTree>
    <p:extLst>
      <p:ext uri="{BB962C8B-B14F-4D97-AF65-F5344CB8AC3E}">
        <p14:creationId xmlns:p14="http://schemas.microsoft.com/office/powerpoint/2010/main" val="1774594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5A55-6EB5-5366-CA1D-59931D027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F3E21-57AB-BC1A-A0BB-48DEB375E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5C842D-89FB-7264-0323-F78FEC2CE9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5CC2D-61D6-59A6-BBB0-0541A3C0DEC6}"/>
              </a:ext>
            </a:extLst>
          </p:cNvPr>
          <p:cNvSpPr>
            <a:spLocks noGrp="1"/>
          </p:cNvSpPr>
          <p:nvPr>
            <p:ph type="sldNum" sz="quarter" idx="5"/>
          </p:nvPr>
        </p:nvSpPr>
        <p:spPr/>
        <p:txBody>
          <a:bodyPr/>
          <a:lstStyle/>
          <a:p>
            <a:fld id="{0C80C2D3-A9B2-7742-8D46-DA2EFB754E94}" type="slidenum">
              <a:rPr lang="en-US" smtClean="0"/>
              <a:t>12</a:t>
            </a:fld>
            <a:endParaRPr lang="en-US"/>
          </a:p>
        </p:txBody>
      </p:sp>
    </p:spTree>
    <p:extLst>
      <p:ext uri="{BB962C8B-B14F-4D97-AF65-F5344CB8AC3E}">
        <p14:creationId xmlns:p14="http://schemas.microsoft.com/office/powerpoint/2010/main" val="39262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30EAD-59C1-0EFA-58A8-517D227F0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24198-9CA8-2316-0D2B-B9062BF262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F6CCDA-58D1-268E-B678-8695CCB2BF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8C27F9-DD48-3D0F-87A1-01CA06E03FCB}"/>
              </a:ext>
            </a:extLst>
          </p:cNvPr>
          <p:cNvSpPr>
            <a:spLocks noGrp="1"/>
          </p:cNvSpPr>
          <p:nvPr>
            <p:ph type="sldNum" sz="quarter" idx="5"/>
          </p:nvPr>
        </p:nvSpPr>
        <p:spPr/>
        <p:txBody>
          <a:bodyPr/>
          <a:lstStyle/>
          <a:p>
            <a:fld id="{0C80C2D3-A9B2-7742-8D46-DA2EFB754E94}" type="slidenum">
              <a:rPr lang="en-US" smtClean="0"/>
              <a:t>13</a:t>
            </a:fld>
            <a:endParaRPr lang="en-US"/>
          </a:p>
        </p:txBody>
      </p:sp>
    </p:spTree>
    <p:extLst>
      <p:ext uri="{BB962C8B-B14F-4D97-AF65-F5344CB8AC3E}">
        <p14:creationId xmlns:p14="http://schemas.microsoft.com/office/powerpoint/2010/main" val="4186193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9CFA1-883E-FBBF-7FF9-F1DF9DBBD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9B69D-1868-8FFF-63E8-86C20DED31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8F24D0-3BA4-55E5-52E4-B924D9C7F8FD}"/>
              </a:ext>
            </a:extLst>
          </p:cNvPr>
          <p:cNvSpPr>
            <a:spLocks noGrp="1"/>
          </p:cNvSpPr>
          <p:nvPr>
            <p:ph type="body" idx="1"/>
          </p:nvPr>
        </p:nvSpPr>
        <p:spPr/>
        <p:txBody>
          <a:bodyPr/>
          <a:lstStyle/>
          <a:p>
            <a:r>
              <a:rPr lang="en-US" dirty="0"/>
              <a:t>To evaluate the proposed radiomics-based classification approach, multiple machine learning models were selected as baseline classifiers.</a:t>
            </a:r>
            <a:br>
              <a:rPr lang="en-US" dirty="0"/>
            </a:br>
            <a:r>
              <a:rPr lang="en-US" dirty="0"/>
              <a:t>These models were chosen to compare interpretable linear methods with nonlinear and ensemble methods that are commonly used in radiomics studies.</a:t>
            </a:r>
          </a:p>
        </p:txBody>
      </p:sp>
      <p:sp>
        <p:nvSpPr>
          <p:cNvPr id="4" name="Slide Number Placeholder 3">
            <a:extLst>
              <a:ext uri="{FF2B5EF4-FFF2-40B4-BE49-F238E27FC236}">
                <a16:creationId xmlns:a16="http://schemas.microsoft.com/office/drawing/2014/main" id="{3E8A1D00-F4E7-C0A0-4B6A-4C9E903156E8}"/>
              </a:ext>
            </a:extLst>
          </p:cNvPr>
          <p:cNvSpPr>
            <a:spLocks noGrp="1"/>
          </p:cNvSpPr>
          <p:nvPr>
            <p:ph type="sldNum" sz="quarter" idx="5"/>
          </p:nvPr>
        </p:nvSpPr>
        <p:spPr/>
        <p:txBody>
          <a:bodyPr/>
          <a:lstStyle/>
          <a:p>
            <a:fld id="{0C80C2D3-A9B2-7742-8D46-DA2EFB754E94}" type="slidenum">
              <a:rPr lang="en-US" smtClean="0"/>
              <a:t>14</a:t>
            </a:fld>
            <a:endParaRPr lang="en-US"/>
          </a:p>
        </p:txBody>
      </p:sp>
    </p:spTree>
    <p:extLst>
      <p:ext uri="{BB962C8B-B14F-4D97-AF65-F5344CB8AC3E}">
        <p14:creationId xmlns:p14="http://schemas.microsoft.com/office/powerpoint/2010/main" val="2071531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F475-81A9-C4C3-F2A0-7A2892CBC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AB8BD-4C25-FB85-B162-4ED064B3CE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3AFCC2-B8B6-FDA2-506B-3AFCB9450D93}"/>
              </a:ext>
            </a:extLst>
          </p:cNvPr>
          <p:cNvSpPr>
            <a:spLocks noGrp="1"/>
          </p:cNvSpPr>
          <p:nvPr>
            <p:ph type="body" idx="1"/>
          </p:nvPr>
        </p:nvSpPr>
        <p:spPr/>
        <p:txBody>
          <a:bodyPr/>
          <a:lstStyle/>
          <a:p>
            <a:r>
              <a:rPr lang="en-US" dirty="0"/>
              <a:t>On the training set, Random Forest and XGBoost achieved AUC close to 1.0, while logistic regression showed slightly lower but still high performance. On the test set, AUC decreased for all models, indicating expected reduction in performance when evaluated on unseen data. Random Forest achieved the highest ROC-AUC (~0.88), followed by XGBoost (~0.84), and logistic regression (~0.75). Despite the decrease, all models performed above chance level, confirming predictive ability.</a:t>
            </a:r>
          </a:p>
        </p:txBody>
      </p:sp>
      <p:sp>
        <p:nvSpPr>
          <p:cNvPr id="4" name="Slide Number Placeholder 3">
            <a:extLst>
              <a:ext uri="{FF2B5EF4-FFF2-40B4-BE49-F238E27FC236}">
                <a16:creationId xmlns:a16="http://schemas.microsoft.com/office/drawing/2014/main" id="{BD34F622-625C-5823-F196-70C02539C9A4}"/>
              </a:ext>
            </a:extLst>
          </p:cNvPr>
          <p:cNvSpPr>
            <a:spLocks noGrp="1"/>
          </p:cNvSpPr>
          <p:nvPr>
            <p:ph type="sldNum" sz="quarter" idx="5"/>
          </p:nvPr>
        </p:nvSpPr>
        <p:spPr/>
        <p:txBody>
          <a:bodyPr/>
          <a:lstStyle/>
          <a:p>
            <a:fld id="{0C80C2D3-A9B2-7742-8D46-DA2EFB754E94}" type="slidenum">
              <a:rPr lang="en-US" smtClean="0"/>
              <a:t>15</a:t>
            </a:fld>
            <a:endParaRPr lang="en-US"/>
          </a:p>
        </p:txBody>
      </p:sp>
    </p:spTree>
    <p:extLst>
      <p:ext uri="{BB962C8B-B14F-4D97-AF65-F5344CB8AC3E}">
        <p14:creationId xmlns:p14="http://schemas.microsoft.com/office/powerpoint/2010/main" val="3925115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A646-8868-D357-5100-BA7D4FB92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5488B-1380-AF26-4120-B6F9A0B7D1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B99A11-D52B-410F-2DE7-E15018631C06}"/>
              </a:ext>
            </a:extLst>
          </p:cNvPr>
          <p:cNvSpPr>
            <a:spLocks noGrp="1"/>
          </p:cNvSpPr>
          <p:nvPr>
            <p:ph type="body" idx="1"/>
          </p:nvPr>
        </p:nvSpPr>
        <p:spPr/>
        <p:txBody>
          <a:bodyPr/>
          <a:lstStyle/>
          <a:p>
            <a:r>
              <a:rPr lang="en-US" dirty="0"/>
              <a:t>On the training set, Random Forest and XGBoost achieved AUC close to 1.0, while logistic regression showed slightly lower but still high performance. On the test set, AUC decreased for all models, indicating expected reduction in performance when evaluated on unseen data. Random Forest achieved the highest ROC-AUC (~0.88), followed by XGBoost (~0.84), and logistic regression (~0.75). Despite the decrease, all models performed above chance level, confirming predictive ability.</a:t>
            </a:r>
          </a:p>
        </p:txBody>
      </p:sp>
      <p:sp>
        <p:nvSpPr>
          <p:cNvPr id="4" name="Slide Number Placeholder 3">
            <a:extLst>
              <a:ext uri="{FF2B5EF4-FFF2-40B4-BE49-F238E27FC236}">
                <a16:creationId xmlns:a16="http://schemas.microsoft.com/office/drawing/2014/main" id="{0C3E0EDB-E6F2-A939-33EB-F1F30B41D8FD}"/>
              </a:ext>
            </a:extLst>
          </p:cNvPr>
          <p:cNvSpPr>
            <a:spLocks noGrp="1"/>
          </p:cNvSpPr>
          <p:nvPr>
            <p:ph type="sldNum" sz="quarter" idx="5"/>
          </p:nvPr>
        </p:nvSpPr>
        <p:spPr/>
        <p:txBody>
          <a:bodyPr/>
          <a:lstStyle/>
          <a:p>
            <a:fld id="{0C80C2D3-A9B2-7742-8D46-DA2EFB754E94}" type="slidenum">
              <a:rPr lang="en-US" smtClean="0"/>
              <a:t>16</a:t>
            </a:fld>
            <a:endParaRPr lang="en-US"/>
          </a:p>
        </p:txBody>
      </p:sp>
    </p:spTree>
    <p:extLst>
      <p:ext uri="{BB962C8B-B14F-4D97-AF65-F5344CB8AC3E}">
        <p14:creationId xmlns:p14="http://schemas.microsoft.com/office/powerpoint/2010/main" val="983189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7C33F-D71C-83C5-7C9C-7050F07F6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FC40C-914F-1621-08E2-277BCBADBD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32977D-FBFF-24BD-A96D-3C7D7B42F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BDA2A-1E53-BD31-11FB-ED45D0161497}"/>
              </a:ext>
            </a:extLst>
          </p:cNvPr>
          <p:cNvSpPr>
            <a:spLocks noGrp="1"/>
          </p:cNvSpPr>
          <p:nvPr>
            <p:ph type="sldNum" sz="quarter" idx="5"/>
          </p:nvPr>
        </p:nvSpPr>
        <p:spPr/>
        <p:txBody>
          <a:bodyPr/>
          <a:lstStyle/>
          <a:p>
            <a:fld id="{0C80C2D3-A9B2-7742-8D46-DA2EFB754E94}" type="slidenum">
              <a:rPr lang="en-US" smtClean="0"/>
              <a:t>17</a:t>
            </a:fld>
            <a:endParaRPr lang="en-US"/>
          </a:p>
        </p:txBody>
      </p:sp>
    </p:spTree>
    <p:extLst>
      <p:ext uri="{BB962C8B-B14F-4D97-AF65-F5344CB8AC3E}">
        <p14:creationId xmlns:p14="http://schemas.microsoft.com/office/powerpoint/2010/main" val="2393729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C9D53-7B1F-FC6E-2A72-B4AC2392A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DE19D-ECAB-975A-85D2-000DC0E5D0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523E87-9D9C-F5C7-F30D-4C11FB4D3725}"/>
              </a:ext>
            </a:extLst>
          </p:cNvPr>
          <p:cNvSpPr>
            <a:spLocks noGrp="1"/>
          </p:cNvSpPr>
          <p:nvPr>
            <p:ph type="body" idx="1"/>
          </p:nvPr>
        </p:nvSpPr>
        <p:spPr/>
        <p:txBody>
          <a:bodyPr/>
          <a:lstStyle/>
          <a:p>
            <a:r>
              <a:rPr lang="en-US" dirty="0"/>
              <a:t>On the training set, Random Forest and XGBoost achieved AUC close to 1.0, while logistic regression showed slightly lower but still high performance. On the test set, AUC decreased for all models, indicating expected reduction in performance when evaluated on unseen data. Random Forest achieved the highest ROC-AUC (~0.88), followed by XGBoost (~0.84), and logistic regression (~0.75). Despite the decrease, all models performed above chance level, confirming predictive ability.</a:t>
            </a:r>
          </a:p>
        </p:txBody>
      </p:sp>
      <p:sp>
        <p:nvSpPr>
          <p:cNvPr id="4" name="Slide Number Placeholder 3">
            <a:extLst>
              <a:ext uri="{FF2B5EF4-FFF2-40B4-BE49-F238E27FC236}">
                <a16:creationId xmlns:a16="http://schemas.microsoft.com/office/drawing/2014/main" id="{2F4E05CA-F4FD-C8A9-9113-83C9BBB2B832}"/>
              </a:ext>
            </a:extLst>
          </p:cNvPr>
          <p:cNvSpPr>
            <a:spLocks noGrp="1"/>
          </p:cNvSpPr>
          <p:nvPr>
            <p:ph type="sldNum" sz="quarter" idx="5"/>
          </p:nvPr>
        </p:nvSpPr>
        <p:spPr/>
        <p:txBody>
          <a:bodyPr/>
          <a:lstStyle/>
          <a:p>
            <a:fld id="{0C80C2D3-A9B2-7742-8D46-DA2EFB754E94}" type="slidenum">
              <a:rPr lang="en-US" smtClean="0"/>
              <a:t>18</a:t>
            </a:fld>
            <a:endParaRPr lang="en-US"/>
          </a:p>
        </p:txBody>
      </p:sp>
    </p:spTree>
    <p:extLst>
      <p:ext uri="{BB962C8B-B14F-4D97-AF65-F5344CB8AC3E}">
        <p14:creationId xmlns:p14="http://schemas.microsoft.com/office/powerpoint/2010/main" val="4053592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C06C-5C70-3FB1-FB2F-EF7B308FD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51B05-EC42-D227-A1BF-9EF17B49CE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467B8D-96CA-F0A1-F3CC-58462DD23504}"/>
              </a:ext>
            </a:extLst>
          </p:cNvPr>
          <p:cNvSpPr>
            <a:spLocks noGrp="1"/>
          </p:cNvSpPr>
          <p:nvPr>
            <p:ph type="body" idx="1"/>
          </p:nvPr>
        </p:nvSpPr>
        <p:spPr/>
        <p:txBody>
          <a:bodyPr/>
          <a:lstStyle/>
          <a:p>
            <a:r>
              <a:rPr lang="en-US" dirty="0"/>
              <a:t>On the training set, all models achieved near-perfect PR performance, with PR-AUC close to 1.0, indicating strong learning of radiomics features. On the test set, Random Forest and XGBoost maintained high PR-AUC (≈0.98 and 0.97), while logistic regression showed slightly lower performance (≈0.92). All models remained well above the baseline precision, confirming that the models perform better than random classification. High PR-AUC indicates good performance under class imbalance, which is important because malignant cases dominate the dataset.</a:t>
            </a:r>
          </a:p>
        </p:txBody>
      </p:sp>
      <p:sp>
        <p:nvSpPr>
          <p:cNvPr id="4" name="Slide Number Placeholder 3">
            <a:extLst>
              <a:ext uri="{FF2B5EF4-FFF2-40B4-BE49-F238E27FC236}">
                <a16:creationId xmlns:a16="http://schemas.microsoft.com/office/drawing/2014/main" id="{814D4D03-6343-C4FB-45C6-4D5A00A9893F}"/>
              </a:ext>
            </a:extLst>
          </p:cNvPr>
          <p:cNvSpPr>
            <a:spLocks noGrp="1"/>
          </p:cNvSpPr>
          <p:nvPr>
            <p:ph type="sldNum" sz="quarter" idx="5"/>
          </p:nvPr>
        </p:nvSpPr>
        <p:spPr/>
        <p:txBody>
          <a:bodyPr/>
          <a:lstStyle/>
          <a:p>
            <a:fld id="{0C80C2D3-A9B2-7742-8D46-DA2EFB754E94}" type="slidenum">
              <a:rPr lang="en-US" smtClean="0"/>
              <a:t>19</a:t>
            </a:fld>
            <a:endParaRPr lang="en-US"/>
          </a:p>
        </p:txBody>
      </p:sp>
    </p:spTree>
    <p:extLst>
      <p:ext uri="{BB962C8B-B14F-4D97-AF65-F5344CB8AC3E}">
        <p14:creationId xmlns:p14="http://schemas.microsoft.com/office/powerpoint/2010/main" val="1364907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DF579-09E0-1E9D-4DEA-1B35B3B58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6EE9D-1D28-6121-EF87-F77D89DB6F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F9A1FC-ECCB-98F6-7CB9-236E7E2AF2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is the optimal Machine Learning (ML) method for classifying LNM using radiomics features?                         </a:t>
            </a:r>
          </a:p>
          <a:p>
            <a:endParaRPr lang="en-US" dirty="0"/>
          </a:p>
        </p:txBody>
      </p:sp>
      <p:sp>
        <p:nvSpPr>
          <p:cNvPr id="4" name="Slide Number Placeholder 3">
            <a:extLst>
              <a:ext uri="{FF2B5EF4-FFF2-40B4-BE49-F238E27FC236}">
                <a16:creationId xmlns:a16="http://schemas.microsoft.com/office/drawing/2014/main" id="{E57D04B5-D9A9-F91C-F825-DE0F638D6028}"/>
              </a:ext>
            </a:extLst>
          </p:cNvPr>
          <p:cNvSpPr>
            <a:spLocks noGrp="1"/>
          </p:cNvSpPr>
          <p:nvPr>
            <p:ph type="sldNum" sz="quarter" idx="5"/>
          </p:nvPr>
        </p:nvSpPr>
        <p:spPr/>
        <p:txBody>
          <a:bodyPr/>
          <a:lstStyle/>
          <a:p>
            <a:fld id="{0C80C2D3-A9B2-7742-8D46-DA2EFB754E94}" type="slidenum">
              <a:rPr lang="en-US" smtClean="0"/>
              <a:t>20</a:t>
            </a:fld>
            <a:endParaRPr lang="en-US"/>
          </a:p>
        </p:txBody>
      </p:sp>
    </p:spTree>
    <p:extLst>
      <p:ext uri="{BB962C8B-B14F-4D97-AF65-F5344CB8AC3E}">
        <p14:creationId xmlns:p14="http://schemas.microsoft.com/office/powerpoint/2010/main" val="988248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5DCEC-A6FE-3034-3832-CCAF80714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09594-84D3-0326-0D61-A21F68A9B7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CE7842-9BE6-5F12-9AFF-2B917834BD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0F90D-D469-A121-2D20-9ACA527BAE05}"/>
              </a:ext>
            </a:extLst>
          </p:cNvPr>
          <p:cNvSpPr>
            <a:spLocks noGrp="1"/>
          </p:cNvSpPr>
          <p:nvPr>
            <p:ph type="sldNum" sz="quarter" idx="5"/>
          </p:nvPr>
        </p:nvSpPr>
        <p:spPr/>
        <p:txBody>
          <a:bodyPr/>
          <a:lstStyle/>
          <a:p>
            <a:fld id="{0C80C2D3-A9B2-7742-8D46-DA2EFB754E94}" type="slidenum">
              <a:rPr lang="en-US" smtClean="0"/>
              <a:t>21</a:t>
            </a:fld>
            <a:endParaRPr lang="en-US"/>
          </a:p>
        </p:txBody>
      </p:sp>
    </p:spTree>
    <p:extLst>
      <p:ext uri="{BB962C8B-B14F-4D97-AF65-F5344CB8AC3E}">
        <p14:creationId xmlns:p14="http://schemas.microsoft.com/office/powerpoint/2010/main" val="1369761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11023-1D48-C41C-341D-C9738166F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280D4-D9DE-968D-B740-7EE79EC22B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0F348B-DE16-0282-4E8F-A7A492579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1874CC-0AB1-1B8C-A175-17C503D04248}"/>
              </a:ext>
            </a:extLst>
          </p:cNvPr>
          <p:cNvSpPr>
            <a:spLocks noGrp="1"/>
          </p:cNvSpPr>
          <p:nvPr>
            <p:ph type="sldNum" sz="quarter" idx="5"/>
          </p:nvPr>
        </p:nvSpPr>
        <p:spPr/>
        <p:txBody>
          <a:bodyPr/>
          <a:lstStyle/>
          <a:p>
            <a:fld id="{0C80C2D3-A9B2-7742-8D46-DA2EFB754E94}" type="slidenum">
              <a:rPr lang="en-US" smtClean="0"/>
              <a:t>22</a:t>
            </a:fld>
            <a:endParaRPr lang="en-US"/>
          </a:p>
        </p:txBody>
      </p:sp>
    </p:spTree>
    <p:extLst>
      <p:ext uri="{BB962C8B-B14F-4D97-AF65-F5344CB8AC3E}">
        <p14:creationId xmlns:p14="http://schemas.microsoft.com/office/powerpoint/2010/main" val="795327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80C2D3-A9B2-7742-8D46-DA2EFB754E94}" type="slidenum">
              <a:rPr lang="en-US" smtClean="0"/>
              <a:t>24</a:t>
            </a:fld>
            <a:endParaRPr lang="en-US"/>
          </a:p>
        </p:txBody>
      </p:sp>
    </p:spTree>
    <p:extLst>
      <p:ext uri="{BB962C8B-B14F-4D97-AF65-F5344CB8AC3E}">
        <p14:creationId xmlns:p14="http://schemas.microsoft.com/office/powerpoint/2010/main" val="1070455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16445" y="2043211"/>
            <a:ext cx="10363200" cy="2579239"/>
          </a:xfrm>
        </p:spPr>
        <p:txBody>
          <a:bodyPr anchor="t" anchorCtr="0">
            <a:normAutofit/>
          </a:bodyPr>
          <a:lstStyle>
            <a:lvl1pPr algn="l">
              <a:lnSpc>
                <a:spcPct val="100000"/>
              </a:lnSpc>
              <a:defRPr sz="5500" b="1" i="0">
                <a:solidFill>
                  <a:schemeClr val="bg1"/>
                </a:solidFill>
                <a:latin typeface="Impact" panose="020B0806030902050204" pitchFamily="34" charset="0"/>
                <a:ea typeface="Impact" panose="020B0806030902050204" pitchFamily="34" charset="0"/>
                <a:cs typeface="Arial Black" charset="0"/>
              </a:defRPr>
            </a:lvl1pPr>
          </a:lstStyle>
          <a:p>
            <a:r>
              <a:rPr lang="en-US" dirty="0"/>
              <a:t>TITLE OF PRESENTATION</a:t>
            </a:r>
            <a:br>
              <a:rPr lang="en-US" dirty="0"/>
            </a:br>
            <a:r>
              <a:rPr lang="en-US" dirty="0"/>
              <a:t>HERE</a:t>
            </a:r>
          </a:p>
        </p:txBody>
      </p:sp>
      <p:sp>
        <p:nvSpPr>
          <p:cNvPr id="3" name="Subtitle 2"/>
          <p:cNvSpPr>
            <a:spLocks noGrp="1"/>
          </p:cNvSpPr>
          <p:nvPr>
            <p:ph type="subTitle" idx="1" hasCustomPrompt="1"/>
          </p:nvPr>
        </p:nvSpPr>
        <p:spPr>
          <a:xfrm>
            <a:off x="616445" y="4842341"/>
            <a:ext cx="10363200" cy="514057"/>
          </a:xfrm>
        </p:spPr>
        <p:txBody>
          <a:bodyPr>
            <a:normAutofit/>
          </a:bodyPr>
          <a:lstStyle>
            <a:lvl1pPr marL="0" indent="0" algn="l">
              <a:buNone/>
              <a:defRPr sz="3000" baseline="0">
                <a:latin typeface="Georgia" panose="02040502050405020303" pitchFamily="18" charset="0"/>
                <a:ea typeface="Georgia" panose="02040502050405020303" pitchFamily="18" charset="0"/>
                <a:cs typeface="Times New Roman"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a:t>
            </a:r>
          </a:p>
        </p:txBody>
      </p:sp>
      <p:sp>
        <p:nvSpPr>
          <p:cNvPr id="5" name="Text Placeholder 4"/>
          <p:cNvSpPr>
            <a:spLocks noGrp="1"/>
          </p:cNvSpPr>
          <p:nvPr>
            <p:ph type="body" sz="quarter" idx="10" hasCustomPrompt="1"/>
          </p:nvPr>
        </p:nvSpPr>
        <p:spPr>
          <a:xfrm>
            <a:off x="624853" y="1501602"/>
            <a:ext cx="4919133" cy="346075"/>
          </a:xfrm>
        </p:spPr>
        <p:txBody>
          <a:bodyPr>
            <a:normAutofit/>
          </a:bodyPr>
          <a:lstStyle>
            <a:lvl1pPr marL="0" indent="0">
              <a:buNone/>
              <a:defRPr sz="1800" b="0" i="1" baseline="0">
                <a:latin typeface="Georgia" panose="02040502050405020303" pitchFamily="18" charset="0"/>
                <a:ea typeface="Georgia" panose="02040502050405020303" pitchFamily="18" charset="0"/>
                <a:cs typeface="Arial"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College or department name here</a:t>
            </a:r>
          </a:p>
        </p:txBody>
      </p:sp>
      <p:cxnSp>
        <p:nvCxnSpPr>
          <p:cNvPr id="7" name="Straight Connector 6"/>
          <p:cNvCxnSpPr/>
          <p:nvPr userDrawn="1"/>
        </p:nvCxnSpPr>
        <p:spPr>
          <a:xfrm>
            <a:off x="738752" y="1937288"/>
            <a:ext cx="161182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16445" y="2043211"/>
            <a:ext cx="10363200" cy="2579239"/>
          </a:xfrm>
        </p:spPr>
        <p:txBody>
          <a:bodyPr anchor="t" anchorCtr="0">
            <a:normAutofit/>
          </a:bodyPr>
          <a:lstStyle>
            <a:lvl1pPr algn="l">
              <a:lnSpc>
                <a:spcPct val="100000"/>
              </a:lnSpc>
              <a:defRPr sz="5500" b="1" i="0">
                <a:solidFill>
                  <a:schemeClr val="bg1"/>
                </a:solidFill>
                <a:latin typeface="Impact" panose="020B0806030902050204" pitchFamily="34" charset="0"/>
                <a:ea typeface="Impact" panose="020B0806030902050204" pitchFamily="34" charset="0"/>
                <a:cs typeface="Arial Black" charset="0"/>
              </a:defRPr>
            </a:lvl1pPr>
          </a:lstStyle>
          <a:p>
            <a:r>
              <a:rPr lang="en-US" dirty="0"/>
              <a:t>TITLE OF PRESENTATION</a:t>
            </a:r>
            <a:br>
              <a:rPr lang="en-US" dirty="0"/>
            </a:br>
            <a:r>
              <a:rPr lang="en-US" dirty="0"/>
              <a:t>HERE</a:t>
            </a:r>
          </a:p>
        </p:txBody>
      </p:sp>
      <p:sp>
        <p:nvSpPr>
          <p:cNvPr id="3" name="Subtitle 2"/>
          <p:cNvSpPr>
            <a:spLocks noGrp="1"/>
          </p:cNvSpPr>
          <p:nvPr>
            <p:ph type="subTitle" idx="1" hasCustomPrompt="1"/>
          </p:nvPr>
        </p:nvSpPr>
        <p:spPr>
          <a:xfrm>
            <a:off x="616445" y="4842341"/>
            <a:ext cx="10363200" cy="514057"/>
          </a:xfrm>
        </p:spPr>
        <p:txBody>
          <a:bodyPr>
            <a:normAutofit/>
          </a:bodyPr>
          <a:lstStyle>
            <a:lvl1pPr marL="0" indent="0" algn="l">
              <a:buNone/>
              <a:defRPr sz="3000" baseline="0">
                <a:solidFill>
                  <a:schemeClr val="bg1"/>
                </a:solidFill>
                <a:latin typeface="Georgia" panose="02040502050405020303" pitchFamily="18" charset="0"/>
                <a:ea typeface="Georgia" panose="02040502050405020303" pitchFamily="18" charset="0"/>
                <a:cs typeface="Times New Roman"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 if needed.</a:t>
            </a:r>
          </a:p>
        </p:txBody>
      </p:sp>
      <p:sp>
        <p:nvSpPr>
          <p:cNvPr id="5" name="Text Placeholder 4"/>
          <p:cNvSpPr>
            <a:spLocks noGrp="1"/>
          </p:cNvSpPr>
          <p:nvPr>
            <p:ph type="body" sz="quarter" idx="10" hasCustomPrompt="1"/>
          </p:nvPr>
        </p:nvSpPr>
        <p:spPr>
          <a:xfrm>
            <a:off x="624853" y="1501602"/>
            <a:ext cx="4919133" cy="346075"/>
          </a:xfrm>
        </p:spPr>
        <p:txBody>
          <a:bodyPr>
            <a:normAutofit/>
          </a:bodyPr>
          <a:lstStyle>
            <a:lvl1pPr marL="0" indent="0">
              <a:buNone/>
              <a:defRPr sz="1800" b="0" i="1" baseline="0">
                <a:solidFill>
                  <a:schemeClr val="bg1"/>
                </a:solidFill>
                <a:latin typeface="Georgia" panose="02040502050405020303" pitchFamily="18" charset="0"/>
                <a:ea typeface="Georgia" panose="02040502050405020303" pitchFamily="18" charset="0"/>
                <a:cs typeface="Arial"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College or department name here</a:t>
            </a:r>
          </a:p>
        </p:txBody>
      </p:sp>
      <p:cxnSp>
        <p:nvCxnSpPr>
          <p:cNvPr id="7" name="Straight Connector 6"/>
          <p:cNvCxnSpPr/>
          <p:nvPr userDrawn="1"/>
        </p:nvCxnSpPr>
        <p:spPr>
          <a:xfrm>
            <a:off x="738752" y="1937288"/>
            <a:ext cx="1611824"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876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9891" y="2822330"/>
            <a:ext cx="9414117" cy="743417"/>
          </a:xfrm>
        </p:spPr>
        <p:txBody>
          <a:bodyPr anchor="t" anchorCtr="0">
            <a:normAutofit/>
          </a:bodyPr>
          <a:lstStyle>
            <a:lvl1pPr>
              <a:defRPr sz="4500" b="1" i="0" baseline="0">
                <a:solidFill>
                  <a:schemeClr val="tx1"/>
                </a:solidFill>
                <a:latin typeface="Impact" panose="020B0806030902050204" pitchFamily="34" charset="0"/>
                <a:ea typeface="Impact" panose="020B0806030902050204" pitchFamily="34" charset="0"/>
                <a:cs typeface="Arial Black" charset="0"/>
              </a:defRPr>
            </a:lvl1pPr>
          </a:lstStyle>
          <a:p>
            <a:r>
              <a:rPr lang="en-US" dirty="0"/>
              <a:t>SECTION HEADER</a:t>
            </a:r>
          </a:p>
        </p:txBody>
      </p:sp>
      <p:sp>
        <p:nvSpPr>
          <p:cNvPr id="3" name="Text Placeholder 2"/>
          <p:cNvSpPr>
            <a:spLocks noGrp="1"/>
          </p:cNvSpPr>
          <p:nvPr>
            <p:ph type="body" idx="1" hasCustomPrompt="1"/>
          </p:nvPr>
        </p:nvSpPr>
        <p:spPr>
          <a:xfrm>
            <a:off x="2289891" y="3580480"/>
            <a:ext cx="9414117" cy="791429"/>
          </a:xfrm>
        </p:spPr>
        <p:txBody>
          <a:bodyPr>
            <a:normAutofit/>
          </a:bodyPr>
          <a:lstStyle>
            <a:lvl1pPr marL="0" indent="0">
              <a:buNone/>
              <a:defRPr sz="2000">
                <a:solidFill>
                  <a:schemeClr val="tx1"/>
                </a:solidFill>
                <a:latin typeface="Georgia" panose="02040502050405020303" pitchFamily="18" charset="0"/>
                <a:ea typeface="Georgia" panose="02040502050405020303" pitchFamily="18" charset="0"/>
                <a:cs typeface="Times New Roman"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if needed.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9891" y="2822330"/>
            <a:ext cx="9414117" cy="743417"/>
          </a:xfrm>
        </p:spPr>
        <p:txBody>
          <a:bodyPr anchor="t" anchorCtr="0">
            <a:normAutofit/>
          </a:bodyPr>
          <a:lstStyle>
            <a:lvl1pPr>
              <a:defRPr sz="4500" b="1" i="0" baseline="0">
                <a:solidFill>
                  <a:srgbClr val="C8102E"/>
                </a:solidFill>
                <a:latin typeface="Impact" panose="020B0806030902050204" pitchFamily="34" charset="0"/>
                <a:ea typeface="Impact" panose="020B0806030902050204" pitchFamily="34" charset="0"/>
                <a:cs typeface="Arial Black" charset="0"/>
              </a:defRPr>
            </a:lvl1pPr>
          </a:lstStyle>
          <a:p>
            <a:r>
              <a:rPr lang="en-US" dirty="0"/>
              <a:t>SECTION HEADER</a:t>
            </a:r>
          </a:p>
        </p:txBody>
      </p:sp>
      <p:sp>
        <p:nvSpPr>
          <p:cNvPr id="3" name="Text Placeholder 2"/>
          <p:cNvSpPr>
            <a:spLocks noGrp="1"/>
          </p:cNvSpPr>
          <p:nvPr>
            <p:ph type="body" idx="1" hasCustomPrompt="1"/>
          </p:nvPr>
        </p:nvSpPr>
        <p:spPr>
          <a:xfrm>
            <a:off x="2289891" y="3580480"/>
            <a:ext cx="9414117" cy="791429"/>
          </a:xfrm>
        </p:spPr>
        <p:txBody>
          <a:bodyPr>
            <a:normAutofit/>
          </a:bodyPr>
          <a:lstStyle>
            <a:lvl1pPr marL="0" indent="0">
              <a:buNone/>
              <a:defRPr sz="2000">
                <a:solidFill>
                  <a:schemeClr val="tx1"/>
                </a:solidFill>
                <a:latin typeface="Georgia" panose="02040502050405020303" pitchFamily="18" charset="0"/>
                <a:ea typeface="Georgia" panose="02040502050405020303" pitchFamily="18" charset="0"/>
                <a:cs typeface="Times New Roman"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if needed.</a:t>
            </a:r>
          </a:p>
        </p:txBody>
      </p:sp>
    </p:spTree>
    <p:extLst>
      <p:ext uri="{BB962C8B-B14F-4D97-AF65-F5344CB8AC3E}">
        <p14:creationId xmlns:p14="http://schemas.microsoft.com/office/powerpoint/2010/main" val="289447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8048" y="1336430"/>
            <a:ext cx="9414117" cy="743417"/>
          </a:xfrm>
        </p:spPr>
        <p:txBody>
          <a:bodyPr anchor="t" anchorCtr="0">
            <a:normAutofit/>
          </a:bodyPr>
          <a:lstStyle>
            <a:lvl1pPr>
              <a:defRPr sz="4500" b="1" i="0" baseline="0">
                <a:solidFill>
                  <a:schemeClr val="bg1"/>
                </a:solidFill>
                <a:latin typeface="Impact" panose="020B0806030902050204" pitchFamily="34" charset="0"/>
                <a:ea typeface="Impact" panose="020B0806030902050204" pitchFamily="34" charset="0"/>
                <a:cs typeface="Arial Black" charset="0"/>
              </a:defRPr>
            </a:lvl1pPr>
          </a:lstStyle>
          <a:p>
            <a:r>
              <a:rPr lang="en-US" dirty="0"/>
              <a:t>SECTION HEADER</a:t>
            </a:r>
          </a:p>
        </p:txBody>
      </p:sp>
      <p:sp>
        <p:nvSpPr>
          <p:cNvPr id="3" name="Text Placeholder 2"/>
          <p:cNvSpPr>
            <a:spLocks noGrp="1"/>
          </p:cNvSpPr>
          <p:nvPr>
            <p:ph type="body" idx="1" hasCustomPrompt="1"/>
          </p:nvPr>
        </p:nvSpPr>
        <p:spPr>
          <a:xfrm>
            <a:off x="608048" y="2094580"/>
            <a:ext cx="9414117" cy="791429"/>
          </a:xfrm>
        </p:spPr>
        <p:txBody>
          <a:bodyPr>
            <a:normAutofit/>
          </a:bodyPr>
          <a:lstStyle>
            <a:lvl1pPr marL="0" indent="0">
              <a:buNone/>
              <a:defRPr sz="2000">
                <a:solidFill>
                  <a:schemeClr val="bg1"/>
                </a:solidFill>
                <a:latin typeface="Georgia" panose="02040502050405020303" pitchFamily="18" charset="0"/>
                <a:ea typeface="Georgia" panose="02040502050405020303" pitchFamily="18" charset="0"/>
                <a:cs typeface="Times New Roman"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if needed.</a:t>
            </a:r>
          </a:p>
        </p:txBody>
      </p:sp>
      <p:cxnSp>
        <p:nvCxnSpPr>
          <p:cNvPr id="5" name="Straight Connector 4"/>
          <p:cNvCxnSpPr/>
          <p:nvPr userDrawn="1"/>
        </p:nvCxnSpPr>
        <p:spPr>
          <a:xfrm>
            <a:off x="739683" y="1163086"/>
            <a:ext cx="160179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499" y="560189"/>
            <a:ext cx="9017977" cy="1060925"/>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hasCustomPrompt="1"/>
          </p:nvPr>
        </p:nvSpPr>
        <p:spPr>
          <a:xfrm>
            <a:off x="571499" y="1863840"/>
            <a:ext cx="9017977" cy="4401303"/>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i="0">
                <a:latin typeface="Tahoma" panose="020B0604030504040204" pitchFamily="34" charset="0"/>
                <a:ea typeface="Tahoma" panose="020B0604030504040204" pitchFamily="34" charset="0"/>
                <a:cs typeface="Tahoma" panose="020B060403050404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[To insert a new slide into the presentation, click the dropdown arrow by “New Slide”</a:t>
            </a:r>
            <a:br>
              <a:rPr lang="en-US" dirty="0"/>
            </a:br>
            <a:r>
              <a:rPr lang="en-US" dirty="0"/>
              <a:t>under the Home tab.]</a:t>
            </a:r>
            <a:br>
              <a:rPr lang="en-US" dirty="0"/>
            </a:br>
            <a:br>
              <a:rPr lang="en-US" dirty="0"/>
            </a:br>
            <a:r>
              <a:rPr lang="en-US" dirty="0"/>
              <a:t>[You may choose a new slide from several different layouts.]</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cxnSp>
        <p:nvCxnSpPr>
          <p:cNvPr id="7" name="Straight Connector 6"/>
          <p:cNvCxnSpPr/>
          <p:nvPr userDrawn="1"/>
        </p:nvCxnSpPr>
        <p:spPr>
          <a:xfrm>
            <a:off x="571499" y="1621124"/>
            <a:ext cx="984107"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499" y="560189"/>
            <a:ext cx="9017977" cy="1060927"/>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hasCustomPrompt="1"/>
          </p:nvPr>
        </p:nvSpPr>
        <p:spPr>
          <a:xfrm>
            <a:off x="571499" y="1863840"/>
            <a:ext cx="9017977" cy="4401303"/>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atin typeface="Tahoma" panose="020B0604030504040204" pitchFamily="34" charset="0"/>
                <a:ea typeface="Tahoma" panose="020B0604030504040204" pitchFamily="34" charset="0"/>
                <a:cs typeface="Tahoma" panose="020B060403050404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[To insert a new slide into the presentation, click the dropdown arrow by “New Slide”</a:t>
            </a:r>
            <a:br>
              <a:rPr lang="en-US" dirty="0"/>
            </a:br>
            <a:r>
              <a:rPr lang="en-US" dirty="0"/>
              <a:t>under the Home tab.]</a:t>
            </a:r>
            <a:br>
              <a:rPr lang="en-US" dirty="0"/>
            </a:br>
            <a:br>
              <a:rPr lang="en-US" dirty="0"/>
            </a:br>
            <a:r>
              <a:rPr lang="en-US" dirty="0"/>
              <a:t>[You may choose a new slide from several different layouts.]</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cxnSp>
        <p:nvCxnSpPr>
          <p:cNvPr id="7" name="Straight Connector 6"/>
          <p:cNvCxnSpPr/>
          <p:nvPr userDrawn="1"/>
        </p:nvCxnSpPr>
        <p:spPr>
          <a:xfrm>
            <a:off x="571499" y="1621124"/>
            <a:ext cx="984107"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608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499" y="560189"/>
            <a:ext cx="9017977" cy="1060927"/>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hasCustomPrompt="1"/>
          </p:nvPr>
        </p:nvSpPr>
        <p:spPr>
          <a:xfrm>
            <a:off x="571499" y="1863840"/>
            <a:ext cx="9017977" cy="4401303"/>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atin typeface="Tahoma" panose="020B0604030504040204" pitchFamily="34" charset="0"/>
                <a:ea typeface="Tahoma" panose="020B0604030504040204" pitchFamily="34" charset="0"/>
                <a:cs typeface="Tahoma" panose="020B060403050404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[To insert a new slide into the presentation, click the dropdown arrow by “New Slide”</a:t>
            </a:r>
            <a:br>
              <a:rPr lang="en-US" dirty="0"/>
            </a:br>
            <a:r>
              <a:rPr lang="en-US" dirty="0"/>
              <a:t>under the Home tab.]</a:t>
            </a:r>
            <a:br>
              <a:rPr lang="en-US" dirty="0"/>
            </a:br>
            <a:br>
              <a:rPr lang="en-US" dirty="0"/>
            </a:br>
            <a:r>
              <a:rPr lang="en-US" dirty="0"/>
              <a:t>[You may choose a new slide from several different layouts.]</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cxnSp>
        <p:nvCxnSpPr>
          <p:cNvPr id="7" name="Straight Connector 6"/>
          <p:cNvCxnSpPr/>
          <p:nvPr userDrawn="1"/>
        </p:nvCxnSpPr>
        <p:spPr>
          <a:xfrm>
            <a:off x="571499" y="1621124"/>
            <a:ext cx="984107"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208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4202" y="506642"/>
            <a:ext cx="10951863" cy="1128951"/>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Text Placeholder 2"/>
          <p:cNvSpPr>
            <a:spLocks noGrp="1"/>
          </p:cNvSpPr>
          <p:nvPr>
            <p:ph type="body" idx="1" hasCustomPrompt="1"/>
          </p:nvPr>
        </p:nvSpPr>
        <p:spPr>
          <a:xfrm>
            <a:off x="618269"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4" name="Content Placeholder 3"/>
          <p:cNvSpPr>
            <a:spLocks noGrp="1"/>
          </p:cNvSpPr>
          <p:nvPr>
            <p:ph sz="half" idx="2" hasCustomPrompt="1"/>
          </p:nvPr>
        </p:nvSpPr>
        <p:spPr>
          <a:xfrm>
            <a:off x="617547" y="2356265"/>
            <a:ext cx="5149117" cy="3171750"/>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[This slide can be used to…]</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sp>
        <p:nvSpPr>
          <p:cNvPr id="11" name="Text Placeholder 2"/>
          <p:cNvSpPr>
            <a:spLocks noGrp="1"/>
          </p:cNvSpPr>
          <p:nvPr>
            <p:ph type="body" idx="13" hasCustomPrompt="1"/>
          </p:nvPr>
        </p:nvSpPr>
        <p:spPr>
          <a:xfrm>
            <a:off x="6346947"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12" name="Content Placeholder 3"/>
          <p:cNvSpPr>
            <a:spLocks noGrp="1"/>
          </p:cNvSpPr>
          <p:nvPr>
            <p:ph sz="half" idx="14" hasCustomPrompt="1"/>
          </p:nvPr>
        </p:nvSpPr>
        <p:spPr>
          <a:xfrm>
            <a:off x="6346947" y="2356265"/>
            <a:ext cx="5149117" cy="3171750"/>
          </a:xfrm>
        </p:spPr>
        <p:txBody>
          <a:bodyPr>
            <a:normAutofit/>
          </a:bodyPr>
          <a:lstStyle>
            <a:lvl1pPr marL="0" indent="0">
              <a:buNone/>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a:t>
            </a:r>
            <a:r>
              <a:rPr lang="mr-IN" dirty="0"/>
              <a:t>…</a:t>
            </a:r>
            <a:r>
              <a:rPr lang="en-US" dirty="0"/>
              <a:t>compare or showcase two contents.]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 Copp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4202" y="506642"/>
            <a:ext cx="10951863" cy="1128951"/>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Text Placeholder 2"/>
          <p:cNvSpPr>
            <a:spLocks noGrp="1"/>
          </p:cNvSpPr>
          <p:nvPr>
            <p:ph type="body" idx="1" hasCustomPrompt="1"/>
          </p:nvPr>
        </p:nvSpPr>
        <p:spPr>
          <a:xfrm>
            <a:off x="618269"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4" name="Content Placeholder 3"/>
          <p:cNvSpPr>
            <a:spLocks noGrp="1"/>
          </p:cNvSpPr>
          <p:nvPr>
            <p:ph sz="half" idx="2" hasCustomPrompt="1"/>
          </p:nvPr>
        </p:nvSpPr>
        <p:spPr>
          <a:xfrm>
            <a:off x="617547" y="2356265"/>
            <a:ext cx="5149117" cy="3171750"/>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[This slide can be used to…]</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sp>
        <p:nvSpPr>
          <p:cNvPr id="11" name="Text Placeholder 2"/>
          <p:cNvSpPr>
            <a:spLocks noGrp="1"/>
          </p:cNvSpPr>
          <p:nvPr>
            <p:ph type="body" idx="13" hasCustomPrompt="1"/>
          </p:nvPr>
        </p:nvSpPr>
        <p:spPr>
          <a:xfrm>
            <a:off x="6346947"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12" name="Content Placeholder 3"/>
          <p:cNvSpPr>
            <a:spLocks noGrp="1"/>
          </p:cNvSpPr>
          <p:nvPr>
            <p:ph sz="half" idx="14" hasCustomPrompt="1"/>
          </p:nvPr>
        </p:nvSpPr>
        <p:spPr>
          <a:xfrm>
            <a:off x="6346947" y="2356265"/>
            <a:ext cx="5149117" cy="3171750"/>
          </a:xfrm>
        </p:spPr>
        <p:txBody>
          <a:bodyPr>
            <a:normAutofit/>
          </a:bodyPr>
          <a:lstStyle>
            <a:lvl1pPr marL="0" indent="0">
              <a:buNone/>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a:t>
            </a:r>
            <a:r>
              <a:rPr lang="mr-IN" dirty="0"/>
              <a:t>…</a:t>
            </a:r>
            <a:r>
              <a:rPr lang="en-US" dirty="0"/>
              <a:t>compare or showcase two contents.]</a:t>
            </a:r>
          </a:p>
        </p:txBody>
      </p:sp>
    </p:spTree>
    <p:extLst>
      <p:ext uri="{BB962C8B-B14F-4D97-AF65-F5344CB8AC3E}">
        <p14:creationId xmlns:p14="http://schemas.microsoft.com/office/powerpoint/2010/main" val="2798099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4202" y="506642"/>
            <a:ext cx="10951863" cy="1128951"/>
          </a:xfrm>
        </p:spPr>
        <p:txBody>
          <a:bodyPr anchor="b" anchorCtr="0">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Text Placeholder 2"/>
          <p:cNvSpPr>
            <a:spLocks noGrp="1"/>
          </p:cNvSpPr>
          <p:nvPr>
            <p:ph type="body" idx="1" hasCustomPrompt="1"/>
          </p:nvPr>
        </p:nvSpPr>
        <p:spPr>
          <a:xfrm>
            <a:off x="618269"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4" name="Content Placeholder 3"/>
          <p:cNvSpPr>
            <a:spLocks noGrp="1"/>
          </p:cNvSpPr>
          <p:nvPr>
            <p:ph sz="half" idx="2" hasCustomPrompt="1"/>
          </p:nvPr>
        </p:nvSpPr>
        <p:spPr>
          <a:xfrm>
            <a:off x="617547" y="2356265"/>
            <a:ext cx="5149117" cy="3171750"/>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[This slide can be used to…]</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sp>
        <p:nvSpPr>
          <p:cNvPr id="11" name="Text Placeholder 2"/>
          <p:cNvSpPr>
            <a:spLocks noGrp="1"/>
          </p:cNvSpPr>
          <p:nvPr>
            <p:ph type="body" idx="13" hasCustomPrompt="1"/>
          </p:nvPr>
        </p:nvSpPr>
        <p:spPr>
          <a:xfrm>
            <a:off x="6346947" y="1777181"/>
            <a:ext cx="5157787" cy="564336"/>
          </a:xfrm>
        </p:spPr>
        <p:txBody>
          <a:bodyPr anchor="b">
            <a:normAutofit/>
          </a:bodyPr>
          <a:lstStyle>
            <a:lvl1pPr marL="0" indent="0">
              <a:buNone/>
              <a:defRPr sz="3000" b="0" i="0" baseline="0">
                <a:solidFill>
                  <a:srgbClr val="956A44"/>
                </a:solidFill>
                <a:latin typeface="Georgia" panose="02040502050405020303" pitchFamily="18" charset="0"/>
                <a:ea typeface="Georgia" panose="02040502050405020303" pitchFamily="18" charset="0"/>
                <a:cs typeface="Times New Roman"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Content Title</a:t>
            </a:r>
          </a:p>
        </p:txBody>
      </p:sp>
      <p:sp>
        <p:nvSpPr>
          <p:cNvPr id="12" name="Content Placeholder 3"/>
          <p:cNvSpPr>
            <a:spLocks noGrp="1"/>
          </p:cNvSpPr>
          <p:nvPr>
            <p:ph sz="half" idx="14" hasCustomPrompt="1"/>
          </p:nvPr>
        </p:nvSpPr>
        <p:spPr>
          <a:xfrm>
            <a:off x="6346947" y="2356265"/>
            <a:ext cx="5149117" cy="3171750"/>
          </a:xfrm>
        </p:spPr>
        <p:txBody>
          <a:bodyPr>
            <a:normAutofit/>
          </a:bodyPr>
          <a:lstStyle>
            <a:lvl1pPr marL="0" indent="0">
              <a:buNone/>
              <a:defRPr sz="1600" baseline="0">
                <a:latin typeface="Tahoma" panose="020B0604030504040204" pitchFamily="34" charset="0"/>
                <a:ea typeface="Tahoma" panose="020B0604030504040204" pitchFamily="34" charset="0"/>
                <a:cs typeface="Tahoma" panose="020B0604030504040204" pitchFamily="34" charset="0"/>
              </a:defRPr>
            </a:lvl1pPr>
            <a:lvl2pPr>
              <a:defRPr sz="1600"/>
            </a:lvl2pPr>
            <a:lvl3pPr>
              <a:defRPr sz="1600"/>
            </a:lvl3pPr>
            <a:lvl4pPr>
              <a:defRPr sz="1600"/>
            </a:lvl4pPr>
            <a:lvl5pPr>
              <a:defRPr sz="1600"/>
            </a:lvl5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a:t>
            </a:r>
            <a:r>
              <a:rPr lang="mr-IN" dirty="0"/>
              <a:t>…</a:t>
            </a:r>
            <a:r>
              <a:rPr lang="en-US" dirty="0"/>
              <a:t>compare or showcase two contents.]</a:t>
            </a:r>
          </a:p>
        </p:txBody>
      </p:sp>
    </p:spTree>
    <p:extLst>
      <p:ext uri="{BB962C8B-B14F-4D97-AF65-F5344CB8AC3E}">
        <p14:creationId xmlns:p14="http://schemas.microsoft.com/office/powerpoint/2010/main" val="188800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88525" y="1290485"/>
            <a:ext cx="5113955" cy="1350115"/>
          </a:xfrm>
        </p:spPr>
        <p:txBody>
          <a:bodyPr anchor="b">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p:nvPr>
        </p:nvSpPr>
        <p:spPr>
          <a:xfrm>
            <a:off x="808892" y="887780"/>
            <a:ext cx="4966677" cy="4334851"/>
          </a:xfrm>
        </p:spPr>
        <p:txBody>
          <a:bodyPr>
            <a:normAutofit/>
          </a:bodyPr>
          <a:lstStyle>
            <a:lvl1pPr marL="0" indent="0" algn="ctr">
              <a:buNone/>
              <a:defRPr sz="20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
        <p:nvSpPr>
          <p:cNvPr id="4" name="Text Placeholder 3"/>
          <p:cNvSpPr>
            <a:spLocks noGrp="1"/>
          </p:cNvSpPr>
          <p:nvPr>
            <p:ph type="body" sz="half" idx="2" hasCustomPrompt="1"/>
          </p:nvPr>
        </p:nvSpPr>
        <p:spPr>
          <a:xfrm>
            <a:off x="6447517" y="2776878"/>
            <a:ext cx="5054963" cy="2445753"/>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lang="en-US" sz="1600" b="0" i="0" baseline="0" smtClean="0">
                <a:effectLst/>
                <a:latin typeface="Tahoma" panose="020B0604030504040204" pitchFamily="34" charset="0"/>
                <a:ea typeface="Tahoma" panose="020B0604030504040204" pitchFamily="34" charset="0"/>
                <a:cs typeface="Tahoma" panose="020B060403050404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0" i="0" dirty="0">
                <a:effectLst/>
                <a:latin typeface="Tahoma" panose="020B0604030504040204" pitchFamily="34" charset="0"/>
                <a:ea typeface="Tahoma" panose="020B0604030504040204" pitchFamily="34" charset="0"/>
                <a:cs typeface="Tahoma" panose="020B0604030504040204" pitchFamily="34" charset="0"/>
              </a:rPr>
              <a:t>[This slide can be used to display a block of text and an image or content.]</a:t>
            </a:r>
          </a:p>
          <a:p>
            <a:endParaRPr lang="en-US" b="0" i="0" dirty="0">
              <a:effectLst/>
              <a:latin typeface="Tahoma" panose="020B0604030504040204" pitchFamily="34" charset="0"/>
              <a:ea typeface="Tahoma" panose="020B0604030504040204" pitchFamily="34" charset="0"/>
              <a:cs typeface="Tahoma" panose="020B0604030504040204" pitchFamily="34" charset="0"/>
            </a:endParaRPr>
          </a:p>
          <a:p>
            <a:r>
              <a:rPr lang="en-US" b="0" i="0" dirty="0">
                <a:effectLst/>
                <a:latin typeface="Tahoma" panose="020B0604030504040204" pitchFamily="34" charset="0"/>
                <a:ea typeface="Tahoma" panose="020B0604030504040204" pitchFamily="34" charset="0"/>
                <a:cs typeface="Tahoma" panose="020B0604030504040204" pitchFamily="34" charset="0"/>
              </a:rPr>
              <a:t>[To add an image or content to the box, click the image box on the left.]</a:t>
            </a:r>
            <a:endParaRPr lang="en-US" dirty="0">
              <a:effectLst/>
              <a:latin typeface="Arial" charset="0"/>
            </a:endParaRPr>
          </a:p>
        </p:txBody>
      </p:sp>
      <p:cxnSp>
        <p:nvCxnSpPr>
          <p:cNvPr id="9" name="Straight Connector 8"/>
          <p:cNvCxnSpPr/>
          <p:nvPr userDrawn="1"/>
        </p:nvCxnSpPr>
        <p:spPr>
          <a:xfrm>
            <a:off x="6566829" y="2655467"/>
            <a:ext cx="986264"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 Copp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88525" y="1290485"/>
            <a:ext cx="5113955" cy="1350115"/>
          </a:xfrm>
        </p:spPr>
        <p:txBody>
          <a:bodyPr anchor="b">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p:nvPr>
        </p:nvSpPr>
        <p:spPr>
          <a:xfrm>
            <a:off x="808892" y="887780"/>
            <a:ext cx="4966677" cy="4334851"/>
          </a:xfrm>
        </p:spPr>
        <p:txBody>
          <a:bodyPr>
            <a:normAutofit/>
          </a:bodyPr>
          <a:lstStyle>
            <a:lvl1pPr marL="0" indent="0" algn="ctr">
              <a:buNone/>
              <a:defRPr sz="20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
        <p:nvSpPr>
          <p:cNvPr id="4" name="Text Placeholder 3"/>
          <p:cNvSpPr>
            <a:spLocks noGrp="1"/>
          </p:cNvSpPr>
          <p:nvPr>
            <p:ph type="body" sz="half" idx="2" hasCustomPrompt="1"/>
          </p:nvPr>
        </p:nvSpPr>
        <p:spPr>
          <a:xfrm>
            <a:off x="6447517" y="2776878"/>
            <a:ext cx="5054963" cy="2445753"/>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lang="en-US" sz="1600" b="0" i="0" baseline="0" smtClean="0">
                <a:effectLst/>
                <a:latin typeface="Tahoma" panose="020B0604030504040204" pitchFamily="34" charset="0"/>
                <a:ea typeface="Tahoma" panose="020B0604030504040204" pitchFamily="34" charset="0"/>
                <a:cs typeface="Tahoma" panose="020B060403050404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0" i="0" dirty="0">
                <a:effectLst/>
                <a:latin typeface="Tahoma" panose="020B0604030504040204" pitchFamily="34" charset="0"/>
                <a:ea typeface="Tahoma" panose="020B0604030504040204" pitchFamily="34" charset="0"/>
                <a:cs typeface="Tahoma" panose="020B0604030504040204" pitchFamily="34" charset="0"/>
              </a:rPr>
              <a:t>[This slide can be used to display a block of text and an image or content.]</a:t>
            </a:r>
          </a:p>
          <a:p>
            <a:endParaRPr lang="en-US" b="0" i="0" dirty="0">
              <a:effectLst/>
              <a:latin typeface="Tahoma" panose="020B0604030504040204" pitchFamily="34" charset="0"/>
              <a:ea typeface="Tahoma" panose="020B0604030504040204" pitchFamily="34" charset="0"/>
              <a:cs typeface="Tahoma" panose="020B0604030504040204" pitchFamily="34" charset="0"/>
            </a:endParaRPr>
          </a:p>
          <a:p>
            <a:r>
              <a:rPr lang="en-US" b="0" i="0" dirty="0">
                <a:effectLst/>
                <a:latin typeface="Tahoma" panose="020B0604030504040204" pitchFamily="34" charset="0"/>
                <a:ea typeface="Tahoma" panose="020B0604030504040204" pitchFamily="34" charset="0"/>
                <a:cs typeface="Tahoma" panose="020B0604030504040204" pitchFamily="34" charset="0"/>
              </a:rPr>
              <a:t>[To add an image or content to the box, click the image box on the left.]</a:t>
            </a:r>
            <a:endParaRPr lang="en-US" dirty="0">
              <a:effectLst/>
              <a:latin typeface="Arial" charset="0"/>
            </a:endParaRPr>
          </a:p>
        </p:txBody>
      </p:sp>
      <p:cxnSp>
        <p:nvCxnSpPr>
          <p:cNvPr id="9" name="Straight Connector 8"/>
          <p:cNvCxnSpPr/>
          <p:nvPr userDrawn="1"/>
        </p:nvCxnSpPr>
        <p:spPr>
          <a:xfrm>
            <a:off x="6566829" y="2655467"/>
            <a:ext cx="986264"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9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88525" y="1290485"/>
            <a:ext cx="5113955" cy="1350115"/>
          </a:xfrm>
        </p:spPr>
        <p:txBody>
          <a:bodyPr anchor="b">
            <a:normAutofit/>
          </a:bodyPr>
          <a:lstStyle>
            <a:lvl1pPr>
              <a:defRPr sz="4500" b="1" i="0">
                <a:solidFill>
                  <a:srgbClr val="C8102E"/>
                </a:solidFill>
                <a:latin typeface="Impact" panose="020B0806030902050204" pitchFamily="34" charset="0"/>
                <a:ea typeface="Impact" panose="020B0806030902050204" pitchFamily="34" charset="0"/>
                <a:cs typeface="Arial Black" charset="0"/>
              </a:defRPr>
            </a:lvl1pPr>
          </a:lstStyle>
          <a:p>
            <a:r>
              <a:rPr lang="en-US" dirty="0"/>
              <a:t>HEADING</a:t>
            </a:r>
          </a:p>
        </p:txBody>
      </p:sp>
      <p:sp>
        <p:nvSpPr>
          <p:cNvPr id="3" name="Content Placeholder 2"/>
          <p:cNvSpPr>
            <a:spLocks noGrp="1"/>
          </p:cNvSpPr>
          <p:nvPr>
            <p:ph idx="1"/>
          </p:nvPr>
        </p:nvSpPr>
        <p:spPr>
          <a:xfrm>
            <a:off x="808892" y="887780"/>
            <a:ext cx="4966677" cy="4334851"/>
          </a:xfrm>
        </p:spPr>
        <p:txBody>
          <a:bodyPr>
            <a:normAutofit/>
          </a:bodyPr>
          <a:lstStyle>
            <a:lvl1pPr marL="0" indent="0" algn="ctr">
              <a:buNone/>
              <a:defRPr sz="20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tabLst/>
              <a:defRPr/>
            </a:pPr>
            <a:r>
              <a:rPr lang="en-US"/>
              <a:t>Click to edit Master text styles</a:t>
            </a:r>
          </a:p>
        </p:txBody>
      </p:sp>
      <p:sp>
        <p:nvSpPr>
          <p:cNvPr id="4" name="Text Placeholder 3"/>
          <p:cNvSpPr>
            <a:spLocks noGrp="1"/>
          </p:cNvSpPr>
          <p:nvPr>
            <p:ph type="body" sz="half" idx="2" hasCustomPrompt="1"/>
          </p:nvPr>
        </p:nvSpPr>
        <p:spPr>
          <a:xfrm>
            <a:off x="6447517" y="2776878"/>
            <a:ext cx="5054963" cy="2445753"/>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lang="en-US" sz="1600" b="0" i="0" baseline="0" smtClean="0">
                <a:effectLst/>
                <a:latin typeface="Tahoma" panose="020B0604030504040204" pitchFamily="34" charset="0"/>
                <a:ea typeface="Tahoma" panose="020B0604030504040204" pitchFamily="34" charset="0"/>
                <a:cs typeface="Tahoma" panose="020B060403050404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0" i="0" dirty="0">
                <a:effectLst/>
                <a:latin typeface="Tahoma" panose="020B0604030504040204" pitchFamily="34" charset="0"/>
                <a:ea typeface="Tahoma" panose="020B0604030504040204" pitchFamily="34" charset="0"/>
                <a:cs typeface="Tahoma" panose="020B0604030504040204" pitchFamily="34" charset="0"/>
              </a:rPr>
              <a:t>[This slide can be used to display a block of text and an image or content.]</a:t>
            </a:r>
          </a:p>
          <a:p>
            <a:endParaRPr lang="en-US" b="0" i="0" dirty="0">
              <a:effectLst/>
              <a:latin typeface="Tahoma" panose="020B0604030504040204" pitchFamily="34" charset="0"/>
              <a:ea typeface="Tahoma" panose="020B0604030504040204" pitchFamily="34" charset="0"/>
              <a:cs typeface="Tahoma" panose="020B0604030504040204" pitchFamily="34" charset="0"/>
            </a:endParaRPr>
          </a:p>
          <a:p>
            <a:r>
              <a:rPr lang="en-US" b="0" i="0" dirty="0">
                <a:effectLst/>
                <a:latin typeface="Tahoma" panose="020B0604030504040204" pitchFamily="34" charset="0"/>
                <a:ea typeface="Tahoma" panose="020B0604030504040204" pitchFamily="34" charset="0"/>
                <a:cs typeface="Tahoma" panose="020B0604030504040204" pitchFamily="34" charset="0"/>
              </a:rPr>
              <a:t>[To add an image or content to the box, click the image box on the left.]</a:t>
            </a:r>
            <a:endParaRPr lang="en-US" dirty="0">
              <a:effectLst/>
              <a:latin typeface="Arial" charset="0"/>
            </a:endParaRPr>
          </a:p>
        </p:txBody>
      </p:sp>
      <p:cxnSp>
        <p:nvCxnSpPr>
          <p:cNvPr id="9" name="Straight Connector 8"/>
          <p:cNvCxnSpPr/>
          <p:nvPr userDrawn="1"/>
        </p:nvCxnSpPr>
        <p:spPr>
          <a:xfrm>
            <a:off x="6566829" y="2655467"/>
            <a:ext cx="986264" cy="0"/>
          </a:xfrm>
          <a:prstGeom prst="line">
            <a:avLst/>
          </a:prstGeom>
          <a:ln w="38100">
            <a:solidFill>
              <a:srgbClr val="C810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579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Important Text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722917" y="2857501"/>
            <a:ext cx="10560049" cy="1585020"/>
          </a:xfrm>
        </p:spPr>
        <p:txBody>
          <a:bodyPr anchor="b" anchorCtr="0">
            <a:noAutofit/>
          </a:bodyPr>
          <a:lstStyle>
            <a:lvl1pPr marL="0" indent="0">
              <a:buNone/>
              <a:defRPr sz="2900" b="0" i="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“At Southeast, we don’t just learn. We do. And, we know there’s no limit to what you can do.”</a:t>
            </a:r>
          </a:p>
        </p:txBody>
      </p:sp>
      <p:sp>
        <p:nvSpPr>
          <p:cNvPr id="5" name="Text Placeholder 4"/>
          <p:cNvSpPr>
            <a:spLocks noGrp="1"/>
          </p:cNvSpPr>
          <p:nvPr>
            <p:ph type="body" sz="quarter" idx="10" hasCustomPrompt="1"/>
          </p:nvPr>
        </p:nvSpPr>
        <p:spPr>
          <a:xfrm>
            <a:off x="714138" y="4879757"/>
            <a:ext cx="10430933" cy="387350"/>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charset="0"/>
              <a:buNone/>
              <a:tabLst/>
              <a:defRPr sz="1700" b="0" i="1" baseline="0">
                <a:solidFill>
                  <a:schemeClr val="bg1"/>
                </a:solidFill>
                <a:latin typeface="Georgia" panose="02040502050405020303" pitchFamily="18" charset="0"/>
                <a:ea typeface="Georgia" panose="02040502050405020303" pitchFamily="18" charset="0"/>
                <a:cs typeface="Arial"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Quote Attribution / Subtitle if needed</a:t>
            </a:r>
          </a:p>
          <a:p>
            <a:pPr marL="228600" marR="0" lvl="0" indent="-228600" algn="l" defTabSz="914400" rtl="0" eaLnBrk="1" fontAlgn="auto" latinLnBrk="0" hangingPunct="1">
              <a:lnSpc>
                <a:spcPct val="90000"/>
              </a:lnSpc>
              <a:spcBef>
                <a:spcPts val="1000"/>
              </a:spcBef>
              <a:spcAft>
                <a:spcPts val="0"/>
              </a:spcAft>
              <a:buClrTx/>
              <a:buSzTx/>
              <a:tabLst/>
              <a:defRPr/>
            </a:pPr>
            <a:endParaRPr lang="en-US" dirty="0"/>
          </a:p>
        </p:txBody>
      </p:sp>
      <p:cxnSp>
        <p:nvCxnSpPr>
          <p:cNvPr id="9" name="Straight Connector 8"/>
          <p:cNvCxnSpPr>
            <a:cxnSpLocks/>
          </p:cNvCxnSpPr>
          <p:nvPr userDrawn="1"/>
        </p:nvCxnSpPr>
        <p:spPr>
          <a:xfrm>
            <a:off x="833677" y="4648583"/>
            <a:ext cx="98738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Important Text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722917" y="2857501"/>
            <a:ext cx="10560049" cy="1585020"/>
          </a:xfrm>
        </p:spPr>
        <p:txBody>
          <a:bodyPr anchor="b" anchorCtr="0">
            <a:noAutofit/>
          </a:bodyPr>
          <a:lstStyle>
            <a:lvl1pPr marL="0" indent="0">
              <a:buNone/>
              <a:defRPr sz="2900" b="0" i="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“At Southeast, we don’t just learn. We do. And, we know there’s no limit to what you can do.”</a:t>
            </a:r>
          </a:p>
        </p:txBody>
      </p:sp>
      <p:sp>
        <p:nvSpPr>
          <p:cNvPr id="5" name="Text Placeholder 4"/>
          <p:cNvSpPr>
            <a:spLocks noGrp="1"/>
          </p:cNvSpPr>
          <p:nvPr>
            <p:ph type="body" sz="quarter" idx="10" hasCustomPrompt="1"/>
          </p:nvPr>
        </p:nvSpPr>
        <p:spPr>
          <a:xfrm>
            <a:off x="714138" y="4879757"/>
            <a:ext cx="10430933" cy="387350"/>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charset="0"/>
              <a:buNone/>
              <a:tabLst/>
              <a:defRPr sz="1700" b="0" i="1" baseline="0">
                <a:solidFill>
                  <a:schemeClr val="bg1"/>
                </a:solidFill>
                <a:latin typeface="Georgia" panose="02040502050405020303" pitchFamily="18" charset="0"/>
                <a:ea typeface="Georgia" panose="02040502050405020303" pitchFamily="18" charset="0"/>
                <a:cs typeface="Arial"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sz="1700" b="0" i="1" dirty="0">
                <a:latin typeface="Georgia" panose="02040502050405020303" pitchFamily="18" charset="0"/>
                <a:ea typeface="Arial" charset="0"/>
                <a:cs typeface="Arial" charset="0"/>
              </a:rPr>
              <a:t>Quote Attribution / Subtitle if needed</a:t>
            </a:r>
            <a:endParaRPr lang="en-US" sz="1700" b="0" i="1" dirty="0">
              <a:latin typeface="Arial" charset="0"/>
              <a:ea typeface="Arial" charset="0"/>
              <a:cs typeface="Arial" charset="0"/>
            </a:endParaRPr>
          </a:p>
        </p:txBody>
      </p:sp>
      <p:cxnSp>
        <p:nvCxnSpPr>
          <p:cNvPr id="9" name="Straight Connector 8"/>
          <p:cNvCxnSpPr>
            <a:cxnSpLocks/>
          </p:cNvCxnSpPr>
          <p:nvPr userDrawn="1"/>
        </p:nvCxnSpPr>
        <p:spPr>
          <a:xfrm>
            <a:off x="833677" y="4648583"/>
            <a:ext cx="98738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5446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180" y="5792415"/>
            <a:ext cx="6021125" cy="755374"/>
          </a:xfrm>
        </p:spPr>
        <p:txBody>
          <a:bodyPr anchor="t" anchorCtr="0">
            <a:normAutofit/>
          </a:bodyPr>
          <a:lstStyle>
            <a:lvl1pPr algn="l">
              <a:lnSpc>
                <a:spcPct val="130000"/>
              </a:lnSpc>
              <a:defRPr sz="1200" b="0" i="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CONTACT INFORMATION</a:t>
            </a:r>
            <a:br>
              <a:rPr lang="en-US" dirty="0"/>
            </a:br>
            <a:r>
              <a:rPr lang="en-US" dirty="0"/>
              <a:t>NAME / DEPARTMENT NAME</a:t>
            </a:r>
            <a:br>
              <a:rPr lang="en-US" dirty="0"/>
            </a:br>
            <a:r>
              <a:rPr lang="en-US" dirty="0"/>
              <a:t>WEBSITE / EMAIL</a:t>
            </a:r>
          </a:p>
        </p:txBody>
      </p:sp>
      <p:sp>
        <p:nvSpPr>
          <p:cNvPr id="6" name="Rectangle 5"/>
          <p:cNvSpPr/>
          <p:nvPr userDrawn="1"/>
        </p:nvSpPr>
        <p:spPr>
          <a:xfrm>
            <a:off x="721098" y="5685933"/>
            <a:ext cx="1528412" cy="516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3"/>
          <p:cNvSpPr>
            <a:spLocks noGrp="1"/>
          </p:cNvSpPr>
          <p:nvPr>
            <p:ph type="body" sz="quarter" idx="10" hasCustomPrompt="1"/>
          </p:nvPr>
        </p:nvSpPr>
        <p:spPr>
          <a:xfrm>
            <a:off x="593004" y="4275744"/>
            <a:ext cx="5631793" cy="534988"/>
          </a:xfrm>
        </p:spPr>
        <p:txBody>
          <a:bodyPr>
            <a:noAutofit/>
          </a:bodyPr>
          <a:lstStyle>
            <a:lvl1pPr marL="0" indent="0">
              <a:buNone/>
              <a:defRPr sz="4500" b="1" i="0" baseline="0">
                <a:solidFill>
                  <a:schemeClr val="bg1"/>
                </a:solidFill>
                <a:latin typeface="Impact" panose="020B0806030902050204" pitchFamily="34" charset="0"/>
                <a:ea typeface="Impact" panose="020B0806030902050204" pitchFamily="34" charset="0"/>
                <a:cs typeface="Arial Black"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THANK YOU!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251CF426-FE69-B543-AC43-0074778DA02A}" type="slidenum">
              <a:rPr lang="en-US" smtClean="0"/>
              <a:pPr/>
              <a:t>‹#›</a:t>
            </a:fld>
            <a:endParaRPr lang="en-US"/>
          </a:p>
        </p:txBody>
      </p:sp>
    </p:spTree>
    <p:extLst>
      <p:ext uri="{BB962C8B-B14F-4D97-AF65-F5344CB8AC3E}">
        <p14:creationId xmlns:p14="http://schemas.microsoft.com/office/powerpoint/2010/main" val="1469884194"/>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3" r:id="rId3"/>
    <p:sldLayoutId id="2147483672" r:id="rId4"/>
    <p:sldLayoutId id="2147483670" r:id="rId5"/>
    <p:sldLayoutId id="2147483662" r:id="rId6"/>
    <p:sldLayoutId id="2147483673" r:id="rId7"/>
    <p:sldLayoutId id="2147483680" r:id="rId8"/>
    <p:sldLayoutId id="2147483665" r:id="rId9"/>
    <p:sldLayoutId id="2147483681" r:id="rId10"/>
    <p:sldLayoutId id="2147483682" r:id="rId11"/>
    <p:sldLayoutId id="2147483668" r:id="rId12"/>
    <p:sldLayoutId id="2147483683" r:id="rId13"/>
    <p:sldLayoutId id="2147483684" r:id="rId14"/>
    <p:sldLayoutId id="2147483669" r:id="rId15"/>
    <p:sldLayoutId id="2147483674" r:id="rId16"/>
    <p:sldLayoutId id="2147483666" r:id="rId17"/>
  </p:sldLayoutIdLst>
  <p:hf hdr="0" dt="0"/>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841D-1962-2804-4808-073F6F919308}"/>
              </a:ext>
            </a:extLst>
          </p:cNvPr>
          <p:cNvSpPr>
            <a:spLocks noGrp="1"/>
          </p:cNvSpPr>
          <p:nvPr>
            <p:ph type="ctrTitle"/>
          </p:nvPr>
        </p:nvSpPr>
        <p:spPr>
          <a:xfrm>
            <a:off x="159244" y="1905001"/>
            <a:ext cx="10820401" cy="2654300"/>
          </a:xfrm>
        </p:spPr>
        <p:txBody>
          <a:bodyPr>
            <a:noAutofit/>
          </a:bodyPr>
          <a:lstStyle/>
          <a:p>
            <a:pPr algn="ctr"/>
            <a:r>
              <a:rPr lang="en-US" sz="3600" dirty="0">
                <a:latin typeface="Montserrat" panose="00000500000000000000" pitchFamily="2" charset="0"/>
              </a:rPr>
              <a:t>Radiomics-Based Machine Learning</a:t>
            </a:r>
            <a:br>
              <a:rPr lang="en-US" sz="3600" dirty="0">
                <a:latin typeface="Montserrat" panose="00000500000000000000" pitchFamily="2" charset="0"/>
              </a:rPr>
            </a:br>
            <a:r>
              <a:rPr lang="en-US" sz="3600" dirty="0">
                <a:latin typeface="Montserrat" panose="00000500000000000000" pitchFamily="2" charset="0"/>
              </a:rPr>
              <a:t>Framework for Pulmonary Nodule</a:t>
            </a:r>
            <a:br>
              <a:rPr lang="en-US" sz="3600" dirty="0">
                <a:latin typeface="Montserrat" panose="00000500000000000000" pitchFamily="2" charset="0"/>
              </a:rPr>
            </a:br>
            <a:r>
              <a:rPr lang="en-US" sz="3600" dirty="0">
                <a:latin typeface="Montserrat" panose="00000500000000000000" pitchFamily="2" charset="0"/>
              </a:rPr>
              <a:t>Malignancy Classification Using Computed Tomography Images</a:t>
            </a:r>
            <a:br>
              <a:rPr lang="en-US" sz="4000" dirty="0">
                <a:latin typeface="Montserrat" panose="00000500000000000000" pitchFamily="2" charset="0"/>
              </a:rPr>
            </a:br>
            <a:endParaRPr lang="en-US" sz="4000" dirty="0">
              <a:latin typeface="Montserrat" panose="00000500000000000000" pitchFamily="2" charset="0"/>
            </a:endParaRPr>
          </a:p>
        </p:txBody>
      </p:sp>
      <p:sp>
        <p:nvSpPr>
          <p:cNvPr id="3" name="Subtitle 2">
            <a:extLst>
              <a:ext uri="{FF2B5EF4-FFF2-40B4-BE49-F238E27FC236}">
                <a16:creationId xmlns:a16="http://schemas.microsoft.com/office/drawing/2014/main" id="{335CF86C-B968-41C7-A9EF-10EAFEA3EAB8}"/>
              </a:ext>
            </a:extLst>
          </p:cNvPr>
          <p:cNvSpPr>
            <a:spLocks noGrp="1"/>
          </p:cNvSpPr>
          <p:nvPr>
            <p:ph type="subTitle" idx="1"/>
          </p:nvPr>
        </p:nvSpPr>
        <p:spPr>
          <a:xfrm>
            <a:off x="1111745" y="4470401"/>
            <a:ext cx="10363200" cy="1000298"/>
          </a:xfrm>
        </p:spPr>
        <p:txBody>
          <a:bodyPr>
            <a:normAutofit/>
          </a:bodyPr>
          <a:lstStyle/>
          <a:p>
            <a:pPr algn="ctr"/>
            <a:r>
              <a:rPr lang="en-US" sz="2400" dirty="0">
                <a:solidFill>
                  <a:schemeClr val="accent4">
                    <a:lumMod val="20000"/>
                    <a:lumOff val="80000"/>
                  </a:schemeClr>
                </a:solidFill>
                <a:latin typeface="Georgia" panose="02040502050405020303" pitchFamily="18" charset="0"/>
              </a:rPr>
              <a:t>Aman Chaudhary</a:t>
            </a:r>
          </a:p>
          <a:p>
            <a:pPr algn="ctr"/>
            <a:r>
              <a:rPr lang="en-US" sz="2400" dirty="0">
                <a:solidFill>
                  <a:schemeClr val="accent4">
                    <a:lumMod val="20000"/>
                    <a:lumOff val="80000"/>
                  </a:schemeClr>
                </a:solidFill>
              </a:rPr>
              <a:t>MSc. Computer Science | Department of Computer Science</a:t>
            </a:r>
            <a:endParaRPr lang="en-US" sz="2400" dirty="0">
              <a:solidFill>
                <a:schemeClr val="accent4">
                  <a:lumMod val="20000"/>
                  <a:lumOff val="80000"/>
                </a:schemeClr>
              </a:solidFill>
              <a:latin typeface="Georgia" panose="02040502050405020303" pitchFamily="18" charset="0"/>
            </a:endParaRPr>
          </a:p>
        </p:txBody>
      </p:sp>
      <p:sp>
        <p:nvSpPr>
          <p:cNvPr id="4" name="TextBox 3">
            <a:extLst>
              <a:ext uri="{FF2B5EF4-FFF2-40B4-BE49-F238E27FC236}">
                <a16:creationId xmlns:a16="http://schemas.microsoft.com/office/drawing/2014/main" id="{9B43F09B-CF25-DC88-7CB7-0F54DC7A15C1}"/>
              </a:ext>
            </a:extLst>
          </p:cNvPr>
          <p:cNvSpPr txBox="1"/>
          <p:nvPr/>
        </p:nvSpPr>
        <p:spPr>
          <a:xfrm>
            <a:off x="4241800" y="6461155"/>
            <a:ext cx="4356100" cy="400110"/>
          </a:xfrm>
          <a:prstGeom prst="rect">
            <a:avLst/>
          </a:prstGeom>
          <a:noFill/>
        </p:spPr>
        <p:txBody>
          <a:bodyPr wrap="square" rtlCol="0">
            <a:spAutoFit/>
          </a:bodyPr>
          <a:lstStyle/>
          <a:p>
            <a:pPr algn="ctr"/>
            <a:r>
              <a:rPr lang="en-US" sz="2000" dirty="0">
                <a:solidFill>
                  <a:schemeClr val="bg1"/>
                </a:solidFill>
              </a:rPr>
              <a:t>2026 MAA Conference | Columbia, MO</a:t>
            </a:r>
          </a:p>
        </p:txBody>
      </p:sp>
    </p:spTree>
    <p:extLst>
      <p:ext uri="{BB962C8B-B14F-4D97-AF65-F5344CB8AC3E}">
        <p14:creationId xmlns:p14="http://schemas.microsoft.com/office/powerpoint/2010/main" val="36199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63D8-BD1E-0D48-A8FD-4433CE86E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B5DC1-5C85-E1C1-1262-4288A3CB3E11}"/>
              </a:ext>
            </a:extLst>
          </p:cNvPr>
          <p:cNvSpPr>
            <a:spLocks noGrp="1"/>
          </p:cNvSpPr>
          <p:nvPr>
            <p:ph type="title"/>
          </p:nvPr>
        </p:nvSpPr>
        <p:spPr>
          <a:xfrm>
            <a:off x="1567996" y="159340"/>
            <a:ext cx="9414117" cy="743417"/>
          </a:xfrm>
        </p:spPr>
        <p:txBody>
          <a:bodyPr/>
          <a:lstStyle/>
          <a:p>
            <a:r>
              <a:rPr lang="en-US" b="0" dirty="0">
                <a:solidFill>
                  <a:srgbClr val="C00000"/>
                </a:solidFill>
              </a:rPr>
              <a:t>Outline:</a:t>
            </a:r>
          </a:p>
        </p:txBody>
      </p:sp>
      <p:sp>
        <p:nvSpPr>
          <p:cNvPr id="3" name="Text Placeholder 2">
            <a:extLst>
              <a:ext uri="{FF2B5EF4-FFF2-40B4-BE49-F238E27FC236}">
                <a16:creationId xmlns:a16="http://schemas.microsoft.com/office/drawing/2014/main" id="{3EBB65A6-4CD7-DE4A-263B-B863C66D7244}"/>
              </a:ext>
            </a:extLst>
          </p:cNvPr>
          <p:cNvSpPr>
            <a:spLocks noGrp="1"/>
          </p:cNvSpPr>
          <p:nvPr>
            <p:ph type="body" idx="1"/>
          </p:nvPr>
        </p:nvSpPr>
        <p:spPr>
          <a:xfrm>
            <a:off x="1888839" y="1543132"/>
            <a:ext cx="9414117" cy="791429"/>
          </a:xfrm>
        </p:spPr>
        <p:txBody>
          <a:bodyPr>
            <a:noAutofit/>
          </a:bodyPr>
          <a:lstStyle/>
          <a:p>
            <a:pPr marL="457200" indent="-457200">
              <a:buFont typeface="Arial" panose="020B0604020202020204" pitchFamily="34" charset="0"/>
              <a:buChar char="•"/>
            </a:pPr>
            <a:r>
              <a:rPr lang="en-US" sz="2800" dirty="0"/>
              <a:t>Introduction</a:t>
            </a:r>
          </a:p>
          <a:p>
            <a:pPr marL="457200" indent="-457200">
              <a:buFont typeface="Arial" panose="020B0604020202020204" pitchFamily="34" charset="0"/>
              <a:buChar char="•"/>
            </a:pPr>
            <a:r>
              <a:rPr lang="en-US" sz="2800" dirty="0"/>
              <a:t>Methods</a:t>
            </a:r>
          </a:p>
          <a:p>
            <a:pPr marL="457200" indent="-457200">
              <a:buFont typeface="Arial" panose="020B0604020202020204" pitchFamily="34" charset="0"/>
              <a:buChar char="•"/>
            </a:pPr>
            <a:r>
              <a:rPr lang="en-US" sz="2800" dirty="0"/>
              <a:t>Results</a:t>
            </a:r>
          </a:p>
          <a:p>
            <a:pPr marL="457200" indent="-457200">
              <a:buFont typeface="Arial" panose="020B0604020202020204" pitchFamily="34" charset="0"/>
              <a:buChar char="•"/>
            </a:pPr>
            <a:r>
              <a:rPr lang="en-US" sz="2800" dirty="0"/>
              <a:t>Conclusions</a:t>
            </a:r>
          </a:p>
          <a:p>
            <a:pPr marL="457200" indent="-457200">
              <a:buFont typeface="Arial" panose="020B0604020202020204" pitchFamily="34" charset="0"/>
              <a:buChar char="•"/>
            </a:pPr>
            <a:r>
              <a:rPr lang="en-US" sz="2800" dirty="0"/>
              <a:t>References</a:t>
            </a:r>
          </a:p>
          <a:p>
            <a:endParaRPr lang="en-US" sz="2800" dirty="0"/>
          </a:p>
        </p:txBody>
      </p:sp>
    </p:spTree>
    <p:extLst>
      <p:ext uri="{BB962C8B-B14F-4D97-AF65-F5344CB8AC3E}">
        <p14:creationId xmlns:p14="http://schemas.microsoft.com/office/powerpoint/2010/main" val="385396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1AD91-4481-A4B7-9303-E72483147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EC99E-AA1A-0D42-C64F-1428B0C8D2DA}"/>
              </a:ext>
            </a:extLst>
          </p:cNvPr>
          <p:cNvSpPr>
            <a:spLocks noGrp="1"/>
          </p:cNvSpPr>
          <p:nvPr>
            <p:ph type="title"/>
          </p:nvPr>
        </p:nvSpPr>
        <p:spPr>
          <a:xfrm>
            <a:off x="608048" y="1336430"/>
            <a:ext cx="9414117" cy="743417"/>
          </a:xfrm>
        </p:spPr>
        <p:txBody>
          <a:bodyPr vert="horz" lIns="91440" tIns="45720" rIns="91440" bIns="45720" rtlCol="0" anchor="t" anchorCtr="0">
            <a:normAutofit/>
          </a:bodyPr>
          <a:lstStyle/>
          <a:p>
            <a:r>
              <a:rPr lang="en-US" b="1" i="0" kern="1200" baseline="0">
                <a:latin typeface="Impact" panose="020B0806030902050204" pitchFamily="34" charset="0"/>
                <a:ea typeface="Impact" panose="020B0806030902050204" pitchFamily="34" charset="0"/>
                <a:cs typeface="Arial Black" charset="0"/>
              </a:rPr>
              <a:t>Introduction:</a:t>
            </a:r>
          </a:p>
        </p:txBody>
      </p:sp>
      <p:sp>
        <p:nvSpPr>
          <p:cNvPr id="6" name="Rectangle 5">
            <a:extLst>
              <a:ext uri="{FF2B5EF4-FFF2-40B4-BE49-F238E27FC236}">
                <a16:creationId xmlns:a16="http://schemas.microsoft.com/office/drawing/2014/main" id="{3C0D9260-9754-1A66-4DC6-65D8B306E4D2}"/>
              </a:ext>
            </a:extLst>
          </p:cNvPr>
          <p:cNvSpPr/>
          <p:nvPr/>
        </p:nvSpPr>
        <p:spPr>
          <a:xfrm>
            <a:off x="608048" y="2094580"/>
            <a:ext cx="9413875" cy="3392487"/>
          </a:xfrm>
          <a:prstGeom prst="rect">
            <a:avLst/>
          </a:prstGeom>
        </p:spPr>
        <p:txBody>
          <a:bodyPr vert="horz" lIns="91440" tIns="45720" rIns="91440" bIns="45720" rtlCol="0">
            <a:normAutofit/>
          </a:bodyPr>
          <a:lstStyle/>
          <a:p>
            <a:pPr marL="342900" indent="-342900">
              <a:lnSpc>
                <a:spcPct val="90000"/>
              </a:lnSpc>
              <a:spcBef>
                <a:spcPts val="1000"/>
              </a:spcBef>
              <a:buFont typeface="Arial" panose="020B0604020202020204" pitchFamily="34" charset="0"/>
              <a:buChar char="•"/>
            </a:pP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Lung cancer is a leading cause of cancer-related death.</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a:p>
            <a:pPr marL="342900" indent="-342900">
              <a:lnSpc>
                <a:spcPct val="90000"/>
              </a:lnSpc>
              <a:spcBef>
                <a:spcPts val="1000"/>
              </a:spcBef>
              <a:buFont typeface="Arial" panose="020B0604020202020204" pitchFamily="34" charset="0"/>
              <a:buChar char="•"/>
            </a:pPr>
            <a:r>
              <a:rPr lang="en-US" sz="2000" kern="1200" dirty="0">
                <a:solidFill>
                  <a:schemeClr val="bg1"/>
                </a:solidFill>
                <a:latin typeface="Georgia" panose="02040502050405020303" pitchFamily="18" charset="0"/>
                <a:ea typeface="Georgia" panose="02040502050405020303" pitchFamily="18" charset="0"/>
                <a:cs typeface="Times New Roman" charset="0"/>
              </a:rPr>
              <a:t>Accurate classification of lung nodules malignancy (LNM) is critical for early diagnosis</a:t>
            </a:r>
            <a:r>
              <a:rPr lang="en-US" sz="2000" dirty="0">
                <a:solidFill>
                  <a:schemeClr val="bg1"/>
                </a:solidFill>
                <a:latin typeface="Georgia" panose="02040502050405020303" pitchFamily="18" charset="0"/>
                <a:ea typeface="Georgia" panose="02040502050405020303" pitchFamily="18" charset="0"/>
                <a:cs typeface="Times New Roman" charset="0"/>
              </a:rPr>
              <a:t>.</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a:p>
            <a:pPr marL="342900" indent="-342900">
              <a:lnSpc>
                <a:spcPct val="90000"/>
              </a:lnSpc>
              <a:spcBef>
                <a:spcPts val="1000"/>
              </a:spcBef>
              <a:buFont typeface="Arial" panose="020B0604020202020204" pitchFamily="34" charset="0"/>
              <a:buChar char="•"/>
            </a:pP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Radiomics-based machine learning has shown promise for nodule classification.</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a:p>
            <a:pPr marL="342900" indent="-342900">
              <a:lnSpc>
                <a:spcPct val="90000"/>
              </a:lnSpc>
              <a:spcBef>
                <a:spcPts val="1000"/>
              </a:spcBef>
              <a:buFont typeface="Arial" panose="020B0604020202020204" pitchFamily="34" charset="0"/>
              <a:buChar char="•"/>
            </a:pP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Many prior studies rely on complex “black-box” models.</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a:p>
            <a:pPr marL="342900" indent="-342900">
              <a:lnSpc>
                <a:spcPct val="90000"/>
              </a:lnSpc>
              <a:spcBef>
                <a:spcPts val="1000"/>
              </a:spcBef>
              <a:buFont typeface="Arial" panose="020B0604020202020204" pitchFamily="34" charset="0"/>
              <a:buChar char="•"/>
            </a:pP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Black-box models may not perform reliably on imbalanced clinical datasets.</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a:p>
            <a:pPr marL="342900" indent="-342900">
              <a:lnSpc>
                <a:spcPct val="90000"/>
              </a:lnSpc>
              <a:spcBef>
                <a:spcPts val="1000"/>
              </a:spcBef>
              <a:buFont typeface="Arial" panose="020B0604020202020204" pitchFamily="34" charset="0"/>
              <a:buChar char="•"/>
            </a:pP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This study evaluates whether classical machine learning models can reliably predict </a:t>
            </a:r>
            <a:r>
              <a:rPr lang="en-US" sz="2000" dirty="0">
                <a:solidFill>
                  <a:schemeClr val="bg1"/>
                </a:solidFill>
                <a:latin typeface="Georgia" panose="02040502050405020303" pitchFamily="18" charset="0"/>
                <a:ea typeface="Georgia" panose="02040502050405020303" pitchFamily="18" charset="0"/>
                <a:cs typeface="Times New Roman" charset="0"/>
              </a:rPr>
              <a:t>LNM</a:t>
            </a:r>
            <a:r>
              <a:rPr lang="en-US" sz="2000" b="0" i="0" kern="1200" baseline="0" dirty="0">
                <a:solidFill>
                  <a:schemeClr val="bg1"/>
                </a:solidFill>
                <a:latin typeface="Georgia" panose="02040502050405020303" pitchFamily="18" charset="0"/>
                <a:ea typeface="Georgia" panose="02040502050405020303" pitchFamily="18" charset="0"/>
                <a:cs typeface="Times New Roman" charset="0"/>
              </a:rPr>
              <a:t>.</a:t>
            </a:r>
            <a:endParaRPr lang="en-US" sz="2000" kern="1200" dirty="0">
              <a:solidFill>
                <a:schemeClr val="bg1"/>
              </a:solidFill>
              <a:latin typeface="Georgia" panose="02040502050405020303" pitchFamily="18" charset="0"/>
              <a:ea typeface="Georgia" panose="02040502050405020303" pitchFamily="18" charset="0"/>
              <a:cs typeface="Times New Roman" charset="0"/>
            </a:endParaRPr>
          </a:p>
        </p:txBody>
      </p:sp>
    </p:spTree>
    <p:extLst>
      <p:ext uri="{BB962C8B-B14F-4D97-AF65-F5344CB8AC3E}">
        <p14:creationId xmlns:p14="http://schemas.microsoft.com/office/powerpoint/2010/main" val="1715745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EDDD-C25B-F36F-60BA-7C5D146DC129}"/>
              </a:ext>
            </a:extLst>
          </p:cNvPr>
          <p:cNvSpPr>
            <a:spLocks noGrp="1"/>
          </p:cNvSpPr>
          <p:nvPr>
            <p:ph type="title"/>
          </p:nvPr>
        </p:nvSpPr>
        <p:spPr>
          <a:xfrm>
            <a:off x="1567996" y="260940"/>
            <a:ext cx="9414117" cy="743417"/>
          </a:xfrm>
        </p:spPr>
        <p:txBody>
          <a:bodyPr/>
          <a:lstStyle/>
          <a:p>
            <a:r>
              <a:rPr lang="en-US" b="0" dirty="0">
                <a:solidFill>
                  <a:srgbClr val="C00000"/>
                </a:solidFill>
              </a:rPr>
              <a:t>Introduction Cont.</a:t>
            </a:r>
          </a:p>
        </p:txBody>
      </p:sp>
      <p:sp>
        <p:nvSpPr>
          <p:cNvPr id="3" name="Text Placeholder 2">
            <a:extLst>
              <a:ext uri="{FF2B5EF4-FFF2-40B4-BE49-F238E27FC236}">
                <a16:creationId xmlns:a16="http://schemas.microsoft.com/office/drawing/2014/main" id="{4A69EDEA-F4F0-73AF-D6A3-E74F843941B1}"/>
              </a:ext>
            </a:extLst>
          </p:cNvPr>
          <p:cNvSpPr>
            <a:spLocks noGrp="1"/>
          </p:cNvSpPr>
          <p:nvPr>
            <p:ph type="body" idx="1"/>
          </p:nvPr>
        </p:nvSpPr>
        <p:spPr>
          <a:xfrm>
            <a:off x="1888839" y="1987632"/>
            <a:ext cx="9414117" cy="791429"/>
          </a:xfrm>
        </p:spPr>
        <p:txBody>
          <a:bodyPr>
            <a:noAutofit/>
          </a:bodyPr>
          <a:lstStyle/>
          <a:p>
            <a:r>
              <a:rPr lang="en-US" sz="2800" b="1" dirty="0"/>
              <a:t>Propose of Study</a:t>
            </a:r>
            <a:r>
              <a:rPr lang="en-US" sz="2800" dirty="0"/>
              <a:t>:</a:t>
            </a:r>
          </a:p>
          <a:p>
            <a:endParaRPr lang="en-US" sz="800" dirty="0"/>
          </a:p>
          <a:p>
            <a:r>
              <a:rPr lang="en-US" sz="2800" dirty="0"/>
              <a:t> To evaluate the reliability of classical machine learning methods for radiomics-based classification of LNM.</a:t>
            </a:r>
          </a:p>
        </p:txBody>
      </p:sp>
    </p:spTree>
    <p:extLst>
      <p:ext uri="{BB962C8B-B14F-4D97-AF65-F5344CB8AC3E}">
        <p14:creationId xmlns:p14="http://schemas.microsoft.com/office/powerpoint/2010/main" val="4031784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602B2-30F2-C134-54EB-434FE2390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30C9F-2DBD-A9CB-B7EF-D2F96A60E8B9}"/>
              </a:ext>
            </a:extLst>
          </p:cNvPr>
          <p:cNvSpPr>
            <a:spLocks noGrp="1"/>
          </p:cNvSpPr>
          <p:nvPr>
            <p:ph type="title"/>
          </p:nvPr>
        </p:nvSpPr>
        <p:spPr>
          <a:xfrm>
            <a:off x="1728417" y="191425"/>
            <a:ext cx="9414117" cy="743417"/>
          </a:xfrm>
        </p:spPr>
        <p:txBody>
          <a:bodyPr/>
          <a:lstStyle/>
          <a:p>
            <a:r>
              <a:rPr lang="en-US" b="0" dirty="0">
                <a:solidFill>
                  <a:srgbClr val="C00000"/>
                </a:solidFill>
              </a:rPr>
              <a:t>Introduction Cont.</a:t>
            </a:r>
          </a:p>
        </p:txBody>
      </p:sp>
      <p:sp>
        <p:nvSpPr>
          <p:cNvPr id="3" name="Text Placeholder 2">
            <a:extLst>
              <a:ext uri="{FF2B5EF4-FFF2-40B4-BE49-F238E27FC236}">
                <a16:creationId xmlns:a16="http://schemas.microsoft.com/office/drawing/2014/main" id="{38F0B94C-BFE5-C1C2-8A10-7C91F7005E2E}"/>
              </a:ext>
            </a:extLst>
          </p:cNvPr>
          <p:cNvSpPr>
            <a:spLocks noGrp="1"/>
          </p:cNvSpPr>
          <p:nvPr>
            <p:ph type="body" idx="1"/>
          </p:nvPr>
        </p:nvSpPr>
        <p:spPr>
          <a:xfrm>
            <a:off x="1936965" y="1270416"/>
            <a:ext cx="9874035" cy="2323684"/>
          </a:xfrm>
        </p:spPr>
        <p:txBody>
          <a:bodyPr>
            <a:noAutofit/>
          </a:bodyPr>
          <a:lstStyle/>
          <a:p>
            <a:r>
              <a:rPr lang="en-US" sz="2800" b="1" dirty="0"/>
              <a:t>Research Question:</a:t>
            </a:r>
          </a:p>
          <a:p>
            <a:pPr>
              <a:buSzPct val="111000"/>
            </a:pPr>
            <a:endParaRPr lang="en-US" sz="2800" b="1" dirty="0"/>
          </a:p>
          <a:p>
            <a:pPr marL="457200" indent="-457200">
              <a:buSzPct val="111000"/>
              <a:buFont typeface="Arial" panose="020B0604020202020204" pitchFamily="34" charset="0"/>
              <a:buChar char="•"/>
            </a:pPr>
            <a:r>
              <a:rPr lang="en-US" sz="2800" dirty="0"/>
              <a:t>What is the optimal Machine Learning (ML) method for classifying LNM using radiomics features?                         </a:t>
            </a:r>
          </a:p>
          <a:p>
            <a:endParaRPr lang="en-US" sz="2800" dirty="0"/>
          </a:p>
          <a:p>
            <a:endParaRPr lang="en-US" sz="2800" dirty="0"/>
          </a:p>
          <a:p>
            <a:endParaRPr lang="en-US" sz="2800" dirty="0"/>
          </a:p>
          <a:p>
            <a:r>
              <a:rPr lang="en-US" sz="2800" dirty="0"/>
              <a:t> </a:t>
            </a:r>
          </a:p>
        </p:txBody>
      </p:sp>
    </p:spTree>
    <p:extLst>
      <p:ext uri="{BB962C8B-B14F-4D97-AF65-F5344CB8AC3E}">
        <p14:creationId xmlns:p14="http://schemas.microsoft.com/office/powerpoint/2010/main" val="2901488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A7B9F0-F5B3-9403-1A9E-B0FA68274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AA353-4636-2C66-2232-1BE2004D0E66}"/>
              </a:ext>
            </a:extLst>
          </p:cNvPr>
          <p:cNvSpPr>
            <a:spLocks noGrp="1"/>
          </p:cNvSpPr>
          <p:nvPr>
            <p:ph type="title"/>
          </p:nvPr>
        </p:nvSpPr>
        <p:spPr>
          <a:xfrm>
            <a:off x="1664249" y="416014"/>
            <a:ext cx="9414117" cy="743417"/>
          </a:xfrm>
        </p:spPr>
        <p:txBody>
          <a:bodyPr/>
          <a:lstStyle/>
          <a:p>
            <a:r>
              <a:rPr lang="en-US" b="0" dirty="0">
                <a:solidFill>
                  <a:srgbClr val="C00000"/>
                </a:solidFill>
              </a:rPr>
              <a:t>Introduction Cont.</a:t>
            </a:r>
          </a:p>
        </p:txBody>
      </p:sp>
      <p:sp>
        <p:nvSpPr>
          <p:cNvPr id="3" name="Text Placeholder 2">
            <a:extLst>
              <a:ext uri="{FF2B5EF4-FFF2-40B4-BE49-F238E27FC236}">
                <a16:creationId xmlns:a16="http://schemas.microsoft.com/office/drawing/2014/main" id="{9100319C-8509-86CE-C6A3-D8985ADD5F8F}"/>
              </a:ext>
            </a:extLst>
          </p:cNvPr>
          <p:cNvSpPr>
            <a:spLocks noGrp="1"/>
          </p:cNvSpPr>
          <p:nvPr>
            <p:ph type="body" idx="1"/>
          </p:nvPr>
        </p:nvSpPr>
        <p:spPr>
          <a:xfrm>
            <a:off x="2049259" y="1478964"/>
            <a:ext cx="9414117" cy="791429"/>
          </a:xfrm>
        </p:spPr>
        <p:txBody>
          <a:bodyPr>
            <a:noAutofit/>
          </a:bodyPr>
          <a:lstStyle/>
          <a:p>
            <a:r>
              <a:rPr lang="en-US" sz="2800" b="1" dirty="0"/>
              <a:t>Research Objectives:</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Segment pulmonary nodules from CT images </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Extract radiomics features </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Apply multi-stage feature selection </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Train classical machine learning models </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Handle class imbalance using appropriate metrics </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Evaluate performance on test data</a:t>
            </a:r>
          </a:p>
          <a:p>
            <a:endParaRPr lang="en-US" sz="1600" b="1" dirty="0"/>
          </a:p>
          <a:p>
            <a:endParaRPr lang="en-US" sz="1600" dirty="0"/>
          </a:p>
          <a:p>
            <a:endParaRPr lang="en-US" sz="1600" dirty="0"/>
          </a:p>
          <a:p>
            <a:r>
              <a:rPr lang="en-US" sz="1600" dirty="0"/>
              <a:t> </a:t>
            </a:r>
          </a:p>
        </p:txBody>
      </p:sp>
    </p:spTree>
    <p:extLst>
      <p:ext uri="{BB962C8B-B14F-4D97-AF65-F5344CB8AC3E}">
        <p14:creationId xmlns:p14="http://schemas.microsoft.com/office/powerpoint/2010/main" val="2879268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4E79-25D7-F867-DF33-DDBC710F4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8DB83-9491-61D4-F077-495627697EFC}"/>
              </a:ext>
            </a:extLst>
          </p:cNvPr>
          <p:cNvSpPr>
            <a:spLocks noGrp="1"/>
          </p:cNvSpPr>
          <p:nvPr>
            <p:ph type="title"/>
          </p:nvPr>
        </p:nvSpPr>
        <p:spPr>
          <a:xfrm>
            <a:off x="1690124" y="236447"/>
            <a:ext cx="9414117" cy="743417"/>
          </a:xfrm>
        </p:spPr>
        <p:txBody>
          <a:bodyPr/>
          <a:lstStyle/>
          <a:p>
            <a:r>
              <a:rPr lang="en-US" dirty="0"/>
              <a:t>Methods :</a:t>
            </a:r>
          </a:p>
        </p:txBody>
      </p:sp>
      <p:sp>
        <p:nvSpPr>
          <p:cNvPr id="6" name="Rectangle 2">
            <a:extLst>
              <a:ext uri="{FF2B5EF4-FFF2-40B4-BE49-F238E27FC236}">
                <a16:creationId xmlns:a16="http://schemas.microsoft.com/office/drawing/2014/main" id="{2B399D32-7126-C210-2B1F-44CA790303B4}"/>
              </a:ext>
            </a:extLst>
          </p:cNvPr>
          <p:cNvSpPr>
            <a:spLocks noChangeArrowheads="1"/>
          </p:cNvSpPr>
          <p:nvPr/>
        </p:nvSpPr>
        <p:spPr bwMode="auto">
          <a:xfrm>
            <a:off x="2032000" y="1279145"/>
            <a:ext cx="907224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Georgia" panose="02040502050405020303" pitchFamily="18" charset="0"/>
                <a:ea typeface="Calibri" panose="020F0502020204030204" pitchFamily="34" charset="0"/>
                <a:cs typeface="Calibri" panose="020F0502020204030204" pitchFamily="34" charset="0"/>
              </a:rPr>
              <a:t>Sample:</a:t>
            </a:r>
          </a:p>
          <a:p>
            <a:pPr lvl="0" eaLnBrk="0" fontAlgn="base" hangingPunct="0">
              <a:spcBef>
                <a:spcPct val="0"/>
              </a:spcBef>
              <a:spcAft>
                <a:spcPct val="0"/>
              </a:spcAft>
            </a:pPr>
            <a:endParaRPr lang="en-US" altLang="en-US" sz="800" dirty="0">
              <a:latin typeface="Georgia" panose="02040502050405020303" pitchFamily="18" charset="0"/>
              <a:ea typeface="Calibri" panose="020F0502020204030204" pitchFamily="34" charset="0"/>
              <a:cs typeface="Calibri" panose="020F0502020204030204" pitchFamily="34" charset="0"/>
            </a:endParaRPr>
          </a:p>
          <a:p>
            <a:pPr marL="457200" lvl="0" indent="-457200" eaLnBrk="0" fontAlgn="base" hangingPunct="0">
              <a:spcBef>
                <a:spcPct val="0"/>
              </a:spcBef>
              <a:spcAft>
                <a:spcPct val="0"/>
              </a:spcAft>
              <a:buFont typeface="Arial" panose="020B0604020202020204" pitchFamily="34" charset="0"/>
              <a:buChar char="•"/>
            </a:pPr>
            <a:r>
              <a:rPr lang="en-US" altLang="en-US" sz="2800" dirty="0">
                <a:latin typeface="Georgia" panose="02040502050405020303" pitchFamily="18" charset="0"/>
                <a:ea typeface="Calibri" panose="020F0502020204030204" pitchFamily="34" charset="0"/>
                <a:cs typeface="Calibri" panose="020F0502020204030204" pitchFamily="34" charset="0"/>
              </a:rPr>
              <a:t>1012 cancer patients CT Scan Images (LIDC IDRI).</a:t>
            </a:r>
          </a:p>
          <a:p>
            <a:pPr marL="457200" lvl="0" indent="-457200" eaLnBrk="0" fontAlgn="base" hangingPunct="0">
              <a:spcBef>
                <a:spcPct val="0"/>
              </a:spcBef>
              <a:spcAft>
                <a:spcPct val="0"/>
              </a:spcAft>
              <a:buFont typeface="Arial" panose="020B0604020202020204" pitchFamily="34" charset="0"/>
              <a:buChar char="•"/>
            </a:pPr>
            <a:r>
              <a:rPr lang="en-US" altLang="en-US" sz="2800" dirty="0">
                <a:latin typeface="Georgia" panose="02040502050405020303" pitchFamily="18" charset="0"/>
                <a:ea typeface="Calibri" panose="020F0502020204030204" pitchFamily="34" charset="0"/>
                <a:cs typeface="Calibri" panose="020F0502020204030204" pitchFamily="34" charset="0"/>
              </a:rPr>
              <a:t>Features extracted </a:t>
            </a:r>
          </a:p>
          <a:p>
            <a:pPr lvl="0" eaLnBrk="0" fontAlgn="base" hangingPunct="0">
              <a:spcBef>
                <a:spcPct val="0"/>
              </a:spcBef>
              <a:spcAft>
                <a:spcPct val="0"/>
              </a:spcAft>
            </a:pP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AFC12A4B-BB30-EA98-EA4D-21852C5E1EFF}"/>
              </a:ext>
            </a:extLst>
          </p:cNvPr>
          <p:cNvPicPr>
            <a:picLocks noChangeAspect="1"/>
          </p:cNvPicPr>
          <p:nvPr/>
        </p:nvPicPr>
        <p:blipFill>
          <a:blip r:embed="rId3"/>
          <a:stretch>
            <a:fillRect/>
          </a:stretch>
        </p:blipFill>
        <p:spPr>
          <a:xfrm>
            <a:off x="2481364" y="2857499"/>
            <a:ext cx="7958036" cy="3637737"/>
          </a:xfrm>
          <a:prstGeom prst="rect">
            <a:avLst/>
          </a:prstGeom>
        </p:spPr>
      </p:pic>
    </p:spTree>
    <p:extLst>
      <p:ext uri="{BB962C8B-B14F-4D97-AF65-F5344CB8AC3E}">
        <p14:creationId xmlns:p14="http://schemas.microsoft.com/office/powerpoint/2010/main" val="1214360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B9F5-3F03-5320-CBB6-3CE23A37C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C9B4E-2309-50FC-E5D8-457C519B96D5}"/>
              </a:ext>
            </a:extLst>
          </p:cNvPr>
          <p:cNvSpPr>
            <a:spLocks noGrp="1"/>
          </p:cNvSpPr>
          <p:nvPr>
            <p:ph type="title"/>
          </p:nvPr>
        </p:nvSpPr>
        <p:spPr>
          <a:xfrm>
            <a:off x="1690124" y="236447"/>
            <a:ext cx="9414117" cy="743417"/>
          </a:xfrm>
        </p:spPr>
        <p:txBody>
          <a:bodyPr/>
          <a:lstStyle/>
          <a:p>
            <a:r>
              <a:rPr lang="en-US" dirty="0"/>
              <a:t>Methods Cont.</a:t>
            </a:r>
          </a:p>
        </p:txBody>
      </p:sp>
      <p:sp>
        <p:nvSpPr>
          <p:cNvPr id="3" name="Rectangle 2">
            <a:extLst>
              <a:ext uri="{FF2B5EF4-FFF2-40B4-BE49-F238E27FC236}">
                <a16:creationId xmlns:a16="http://schemas.microsoft.com/office/drawing/2014/main" id="{FC04557A-6BAD-04F5-0B7F-82EE973B907B}"/>
              </a:ext>
            </a:extLst>
          </p:cNvPr>
          <p:cNvSpPr>
            <a:spLocks noChangeArrowheads="1"/>
          </p:cNvSpPr>
          <p:nvPr/>
        </p:nvSpPr>
        <p:spPr bwMode="auto">
          <a:xfrm>
            <a:off x="1871341" y="979864"/>
            <a:ext cx="9072241" cy="388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Georgia" panose="02040502050405020303" pitchFamily="18" charset="0"/>
                <a:ea typeface="Calibri" panose="020F0502020204030204" pitchFamily="34" charset="0"/>
                <a:cs typeface="Calibri" panose="020F0502020204030204" pitchFamily="34" charset="0"/>
              </a:rPr>
              <a:t>Variables:</a:t>
            </a:r>
          </a:p>
          <a:p>
            <a:pPr lvl="0" eaLnBrk="0" fontAlgn="base" hangingPunct="0">
              <a:spcBef>
                <a:spcPct val="0"/>
              </a:spcBef>
              <a:spcAft>
                <a:spcPct val="0"/>
              </a:spcAft>
            </a:pPr>
            <a:endParaRPr lang="en-US" altLang="en-US" sz="800" dirty="0">
              <a:latin typeface="Georgia" panose="02040502050405020303" pitchFamily="18" charset="0"/>
              <a:ea typeface="Calibri" panose="020F0502020204030204" pitchFamily="34" charset="0"/>
              <a:cs typeface="Calibri" panose="020F0502020204030204" pitchFamily="34" charset="0"/>
            </a:endParaRPr>
          </a:p>
          <a:p>
            <a:pPr marL="457200" lvl="0" indent="-457200" eaLnBrk="0" fontAlgn="base" hangingPunct="0">
              <a:spcBef>
                <a:spcPct val="0"/>
              </a:spcBef>
              <a:spcAft>
                <a:spcPct val="0"/>
              </a:spcAft>
              <a:buFont typeface="Arial" panose="020B0604020202020204" pitchFamily="34" charset="0"/>
              <a:buChar char="•"/>
            </a:pPr>
            <a:r>
              <a:rPr lang="en-US" altLang="en-US" sz="2800" dirty="0">
                <a:latin typeface="Georgia" panose="02040502050405020303" pitchFamily="18" charset="0"/>
                <a:ea typeface="Calibri" panose="020F0502020204030204" pitchFamily="34" charset="0"/>
                <a:cs typeface="Calibri" panose="020F0502020204030204" pitchFamily="34" charset="0"/>
              </a:rPr>
              <a:t>1437 variables were studied.</a:t>
            </a:r>
          </a:p>
          <a:p>
            <a:pPr marL="457200" lvl="0" indent="-457200" fontAlgn="base">
              <a:lnSpc>
                <a:spcPct val="90000"/>
              </a:lnSpc>
              <a:spcBef>
                <a:spcPct val="0"/>
              </a:spcBef>
              <a:spcAft>
                <a:spcPct val="0"/>
              </a:spcAft>
              <a:buFont typeface="Arial" panose="020B0604020202020204" pitchFamily="34" charset="0"/>
              <a:buChar char="•"/>
            </a:pPr>
            <a:r>
              <a:rPr lang="en-US" altLang="en-US" sz="2800" i="1" dirty="0">
                <a:solidFill>
                  <a:srgbClr val="C8102E"/>
                </a:solidFill>
                <a:latin typeface="Georgia" panose="02040502050405020303" pitchFamily="18" charset="0"/>
              </a:rPr>
              <a:t>Response variable: </a:t>
            </a:r>
          </a:p>
          <a:p>
            <a:pPr marL="914400" lvl="1" indent="-457200" eaLnBrk="0" fontAlgn="base" hangingPunct="0">
              <a:spcBef>
                <a:spcPct val="0"/>
              </a:spcBef>
              <a:spcAft>
                <a:spcPct val="0"/>
              </a:spcAft>
              <a:buFont typeface="Courier New" panose="02070309020205020404" pitchFamily="49" charset="0"/>
              <a:buChar char="o"/>
            </a:pPr>
            <a:r>
              <a:rPr lang="en-US" altLang="en-US" sz="2800" b="1" dirty="0">
                <a:latin typeface="Georgia" panose="02040502050405020303" pitchFamily="18" charset="0"/>
                <a:ea typeface="Calibri" panose="020F0502020204030204" pitchFamily="34" charset="0"/>
                <a:cs typeface="Calibri" panose="020F0502020204030204" pitchFamily="34" charset="0"/>
              </a:rPr>
              <a:t>Label: </a:t>
            </a:r>
            <a:r>
              <a:rPr lang="en-US" altLang="en-US" sz="2800" dirty="0">
                <a:latin typeface="Georgia" panose="02040502050405020303" pitchFamily="18" charset="0"/>
                <a:ea typeface="Calibri" panose="020F0502020204030204" pitchFamily="34" charset="0"/>
                <a:cs typeface="Calibri" panose="020F0502020204030204" pitchFamily="34" charset="0"/>
              </a:rPr>
              <a:t>1 means malignant; 0 means benign. </a:t>
            </a:r>
          </a:p>
          <a:p>
            <a:pPr marL="914400" lvl="1" indent="-457200" eaLnBrk="0" fontAlgn="base" hangingPunct="0">
              <a:spcBef>
                <a:spcPct val="0"/>
              </a:spcBef>
              <a:spcAft>
                <a:spcPct val="0"/>
              </a:spcAft>
              <a:buFont typeface="Courier New" panose="02070309020205020404" pitchFamily="49" charset="0"/>
              <a:buChar char="o"/>
            </a:pPr>
            <a:r>
              <a:rPr lang="en-US" altLang="en-US" sz="2800" dirty="0">
                <a:latin typeface="Georgia" panose="02040502050405020303" pitchFamily="18" charset="0"/>
                <a:ea typeface="Calibri" panose="020F0502020204030204" pitchFamily="34" charset="0"/>
                <a:cs typeface="Calibri" panose="020F0502020204030204" pitchFamily="34" charset="0"/>
              </a:rPr>
              <a:t>Label implies patients with </a:t>
            </a:r>
            <a:r>
              <a:rPr lang="en-US" altLang="en-US" sz="2800" dirty="0">
                <a:solidFill>
                  <a:srgbClr val="00B050"/>
                </a:solidFill>
                <a:latin typeface="Georgia" panose="02040502050405020303" pitchFamily="18" charset="0"/>
                <a:ea typeface="Calibri" panose="020F0502020204030204" pitchFamily="34" charset="0"/>
                <a:cs typeface="Calibri" panose="020F0502020204030204" pitchFamily="34" charset="0"/>
              </a:rPr>
              <a:t>malignancy score greater than 3.</a:t>
            </a:r>
          </a:p>
          <a:p>
            <a:pPr indent="-457200" fontAlgn="base">
              <a:lnSpc>
                <a:spcPct val="90000"/>
              </a:lnSpc>
              <a:spcBef>
                <a:spcPct val="0"/>
              </a:spcBef>
              <a:spcAft>
                <a:spcPct val="0"/>
              </a:spcAft>
              <a:buFont typeface="Arial" panose="020B0604020202020204" pitchFamily="34" charset="0"/>
              <a:buChar char="•"/>
            </a:pPr>
            <a:r>
              <a:rPr lang="en-US" altLang="en-US" sz="2800" i="1" dirty="0">
                <a:solidFill>
                  <a:srgbClr val="C8102E"/>
                </a:solidFill>
                <a:latin typeface="Georgia" panose="02040502050405020303" pitchFamily="18" charset="0"/>
              </a:rPr>
              <a:t>Predictors:</a:t>
            </a:r>
          </a:p>
          <a:p>
            <a:pPr marL="914400" lvl="1" indent="-457200" eaLnBrk="0" fontAlgn="base" hangingPunct="0">
              <a:spcBef>
                <a:spcPct val="0"/>
              </a:spcBef>
              <a:spcAft>
                <a:spcPct val="0"/>
              </a:spcAft>
              <a:buFont typeface="Courier New" panose="02070309020205020404" pitchFamily="49" charset="0"/>
              <a:buChar char="o"/>
            </a:pPr>
            <a:r>
              <a:rPr lang="en-US" altLang="en-US" sz="2400" dirty="0">
                <a:latin typeface="Georgia" panose="02040502050405020303" pitchFamily="18" charset="0"/>
                <a:ea typeface="Calibri" panose="020F0502020204030204" pitchFamily="34" charset="0"/>
                <a:cs typeface="Calibri" panose="020F0502020204030204" pitchFamily="34" charset="0"/>
              </a:rPr>
              <a:t>Texture Features; Shape Features; Coarseness; First Order Features.</a:t>
            </a:r>
          </a:p>
        </p:txBody>
      </p:sp>
    </p:spTree>
    <p:extLst>
      <p:ext uri="{BB962C8B-B14F-4D97-AF65-F5344CB8AC3E}">
        <p14:creationId xmlns:p14="http://schemas.microsoft.com/office/powerpoint/2010/main" val="176852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57660-CD4B-84AA-C1D0-2DF52342C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B0036-ECAD-23F9-6366-241BD0FE6323}"/>
              </a:ext>
            </a:extLst>
          </p:cNvPr>
          <p:cNvSpPr>
            <a:spLocks noGrp="1"/>
          </p:cNvSpPr>
          <p:nvPr>
            <p:ph type="title"/>
          </p:nvPr>
        </p:nvSpPr>
        <p:spPr>
          <a:xfrm>
            <a:off x="1690124" y="236447"/>
            <a:ext cx="9414117" cy="743417"/>
          </a:xfrm>
        </p:spPr>
        <p:txBody>
          <a:bodyPr/>
          <a:lstStyle/>
          <a:p>
            <a:r>
              <a:rPr lang="en-US" dirty="0"/>
              <a:t>Methods Cont. </a:t>
            </a:r>
          </a:p>
        </p:txBody>
      </p:sp>
      <p:sp>
        <p:nvSpPr>
          <p:cNvPr id="6" name="Rectangle 2">
            <a:extLst>
              <a:ext uri="{FF2B5EF4-FFF2-40B4-BE49-F238E27FC236}">
                <a16:creationId xmlns:a16="http://schemas.microsoft.com/office/drawing/2014/main" id="{2EB0D454-1B41-E57C-2B11-2DC387E8C49C}"/>
              </a:ext>
            </a:extLst>
          </p:cNvPr>
          <p:cNvSpPr>
            <a:spLocks noChangeArrowheads="1"/>
          </p:cNvSpPr>
          <p:nvPr/>
        </p:nvSpPr>
        <p:spPr bwMode="auto">
          <a:xfrm>
            <a:off x="1841500" y="1451888"/>
            <a:ext cx="10058400" cy="1465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Georgia" panose="02040502050405020303" pitchFamily="18" charset="0"/>
                <a:ea typeface="Calibri" panose="020F0502020204030204" pitchFamily="34" charset="0"/>
                <a:cs typeface="Calibri" panose="020F0502020204030204" pitchFamily="34" charset="0"/>
              </a:rPr>
              <a:t>Statistical Analysis:</a:t>
            </a:r>
          </a:p>
          <a:p>
            <a:pPr lvl="0" eaLnBrk="0" fontAlgn="base" hangingPunct="0">
              <a:spcBef>
                <a:spcPct val="0"/>
              </a:spcBef>
              <a:spcAft>
                <a:spcPct val="0"/>
              </a:spcAft>
            </a:pPr>
            <a:endParaRPr lang="en-US" altLang="en-US" sz="800" dirty="0">
              <a:latin typeface="Georgia" panose="02040502050405020303" pitchFamily="18" charset="0"/>
              <a:ea typeface="Calibri" panose="020F0502020204030204" pitchFamily="34" charset="0"/>
              <a:cs typeface="Calibri" panose="020F0502020204030204" pitchFamily="34" charset="0"/>
            </a:endParaRPr>
          </a:p>
          <a:p>
            <a:pPr marL="457200" lvl="0" indent="-457200" fontAlgn="base">
              <a:lnSpc>
                <a:spcPct val="90000"/>
              </a:lnSpc>
              <a:spcBef>
                <a:spcPct val="0"/>
              </a:spcBef>
              <a:spcAft>
                <a:spcPct val="0"/>
              </a:spcAft>
              <a:buFont typeface="Arial" panose="020B0604020202020204" pitchFamily="34" charset="0"/>
              <a:buChar char="•"/>
            </a:pPr>
            <a:r>
              <a:rPr lang="en-US" altLang="en-US" sz="2800" i="1" dirty="0">
                <a:solidFill>
                  <a:srgbClr val="C8102E"/>
                </a:solidFill>
                <a:latin typeface="Georgia" panose="02040502050405020303" pitchFamily="18" charset="0"/>
              </a:rPr>
              <a:t>Data Preprocessing and Cleaning.</a:t>
            </a:r>
          </a:p>
          <a:p>
            <a:pPr marL="914400" lvl="1" indent="-457200" eaLnBrk="0" fontAlgn="base" hangingPunct="0">
              <a:spcBef>
                <a:spcPct val="0"/>
              </a:spcBef>
              <a:spcAft>
                <a:spcPct val="0"/>
              </a:spcAft>
              <a:buFont typeface="Courier New" panose="02070309020205020404" pitchFamily="49" charset="0"/>
              <a:buChar char="o"/>
            </a:pPr>
            <a:r>
              <a:rPr lang="en-US" altLang="en-US" sz="2800" dirty="0">
                <a:latin typeface="Georgia" panose="02040502050405020303" pitchFamily="18" charset="0"/>
                <a:ea typeface="Calibri" panose="020F0502020204030204" pitchFamily="34" charset="0"/>
                <a:cs typeface="Calibri" panose="020F0502020204030204" pitchFamily="34" charset="0"/>
              </a:rPr>
              <a:t>Removal of redundant information; Data Imputation.</a:t>
            </a:r>
          </a:p>
        </p:txBody>
      </p:sp>
      <p:pic>
        <p:nvPicPr>
          <p:cNvPr id="4" name="Picture 3">
            <a:extLst>
              <a:ext uri="{FF2B5EF4-FFF2-40B4-BE49-F238E27FC236}">
                <a16:creationId xmlns:a16="http://schemas.microsoft.com/office/drawing/2014/main" id="{E321C84A-E41A-AA25-5B5A-163047DFEBAD}"/>
              </a:ext>
            </a:extLst>
          </p:cNvPr>
          <p:cNvPicPr>
            <a:picLocks noChangeAspect="1"/>
          </p:cNvPicPr>
          <p:nvPr/>
        </p:nvPicPr>
        <p:blipFill>
          <a:blip r:embed="rId3"/>
          <a:srcRect t="34714" b="33711"/>
          <a:stretch>
            <a:fillRect/>
          </a:stretch>
        </p:blipFill>
        <p:spPr>
          <a:xfrm>
            <a:off x="2138041" y="4515554"/>
            <a:ext cx="9761859" cy="1094385"/>
          </a:xfrm>
          <a:prstGeom prst="rect">
            <a:avLst/>
          </a:prstGeom>
        </p:spPr>
      </p:pic>
      <p:sp>
        <p:nvSpPr>
          <p:cNvPr id="5" name="Rectangle 2">
            <a:extLst>
              <a:ext uri="{FF2B5EF4-FFF2-40B4-BE49-F238E27FC236}">
                <a16:creationId xmlns:a16="http://schemas.microsoft.com/office/drawing/2014/main" id="{BF0B04C3-BEAC-87A0-AC20-101CEF7910B9}"/>
              </a:ext>
            </a:extLst>
          </p:cNvPr>
          <p:cNvSpPr>
            <a:spLocks noChangeArrowheads="1"/>
          </p:cNvSpPr>
          <p:nvPr/>
        </p:nvSpPr>
        <p:spPr bwMode="auto">
          <a:xfrm>
            <a:off x="2057711" y="3876674"/>
            <a:ext cx="10058400" cy="603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altLang="en-US" sz="800" dirty="0">
              <a:latin typeface="Georgia" panose="02040502050405020303" pitchFamily="18" charset="0"/>
              <a:ea typeface="Calibri" panose="020F0502020204030204" pitchFamily="34" charset="0"/>
              <a:cs typeface="Calibri" panose="020F0502020204030204" pitchFamily="34" charset="0"/>
            </a:endParaRPr>
          </a:p>
          <a:p>
            <a:pPr marL="457200" lvl="0" indent="-457200" fontAlgn="base">
              <a:lnSpc>
                <a:spcPct val="90000"/>
              </a:lnSpc>
              <a:spcBef>
                <a:spcPct val="0"/>
              </a:spcBef>
              <a:spcAft>
                <a:spcPct val="0"/>
              </a:spcAft>
              <a:buFont typeface="Arial" panose="020B0604020202020204" pitchFamily="34" charset="0"/>
              <a:buChar char="•"/>
            </a:pPr>
            <a:r>
              <a:rPr lang="en-US" altLang="en-US" sz="2800" i="1" dirty="0">
                <a:solidFill>
                  <a:srgbClr val="C8102E"/>
                </a:solidFill>
                <a:latin typeface="Georgia" panose="02040502050405020303" pitchFamily="18" charset="0"/>
              </a:rPr>
              <a:t>Variable Selection:</a:t>
            </a:r>
          </a:p>
        </p:txBody>
      </p:sp>
      <p:sp>
        <p:nvSpPr>
          <p:cNvPr id="7" name="Rectangle 2">
            <a:extLst>
              <a:ext uri="{FF2B5EF4-FFF2-40B4-BE49-F238E27FC236}">
                <a16:creationId xmlns:a16="http://schemas.microsoft.com/office/drawing/2014/main" id="{0C8213B0-2FDF-0A89-C845-78CC3D061327}"/>
              </a:ext>
            </a:extLst>
          </p:cNvPr>
          <p:cNvSpPr>
            <a:spLocks noChangeArrowheads="1"/>
          </p:cNvSpPr>
          <p:nvPr/>
        </p:nvSpPr>
        <p:spPr bwMode="auto">
          <a:xfrm>
            <a:off x="2146300" y="2854947"/>
            <a:ext cx="10058400"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altLang="en-US" sz="800" dirty="0">
              <a:latin typeface="Georgia" panose="02040502050405020303" pitchFamily="18" charset="0"/>
              <a:ea typeface="Calibri" panose="020F0502020204030204" pitchFamily="34" charset="0"/>
              <a:cs typeface="Calibri" panose="020F0502020204030204" pitchFamily="34" charset="0"/>
            </a:endParaRPr>
          </a:p>
          <a:p>
            <a:pPr marL="457200" lvl="0" indent="-457200" fontAlgn="base">
              <a:lnSpc>
                <a:spcPct val="90000"/>
              </a:lnSpc>
              <a:spcBef>
                <a:spcPct val="0"/>
              </a:spcBef>
              <a:spcAft>
                <a:spcPct val="0"/>
              </a:spcAft>
              <a:buFont typeface="Arial" panose="020B0604020202020204" pitchFamily="34" charset="0"/>
              <a:buChar char="•"/>
            </a:pPr>
            <a:r>
              <a:rPr lang="en-US" altLang="en-US" sz="2800" i="1" dirty="0">
                <a:solidFill>
                  <a:srgbClr val="C8102E"/>
                </a:solidFill>
                <a:latin typeface="Georgia" panose="02040502050405020303" pitchFamily="18" charset="0"/>
              </a:rPr>
              <a:t>Data Partitions:</a:t>
            </a:r>
          </a:p>
          <a:p>
            <a:pPr marL="914400" lvl="1" indent="-457200" eaLnBrk="0" fontAlgn="base" hangingPunct="0">
              <a:spcBef>
                <a:spcPct val="0"/>
              </a:spcBef>
              <a:spcAft>
                <a:spcPct val="0"/>
              </a:spcAft>
              <a:buFont typeface="Courier New" panose="02070309020205020404" pitchFamily="49" charset="0"/>
              <a:buChar char="o"/>
            </a:pPr>
            <a:r>
              <a:rPr lang="en-US" altLang="en-US" sz="2800" dirty="0">
                <a:latin typeface="Georgia" panose="02040502050405020303" pitchFamily="18" charset="0"/>
                <a:ea typeface="Calibri" panose="020F0502020204030204" pitchFamily="34" charset="0"/>
                <a:cs typeface="Calibri" panose="020F0502020204030204" pitchFamily="34" charset="0"/>
              </a:rPr>
              <a:t>Train : 80%, Test: 20%</a:t>
            </a:r>
          </a:p>
        </p:txBody>
      </p:sp>
    </p:spTree>
    <p:extLst>
      <p:ext uri="{BB962C8B-B14F-4D97-AF65-F5344CB8AC3E}">
        <p14:creationId xmlns:p14="http://schemas.microsoft.com/office/powerpoint/2010/main" val="556937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FD23D-414F-DD8B-3B6B-B347356A7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34646-7D9A-6EA5-0F1B-2C275A192B00}"/>
              </a:ext>
            </a:extLst>
          </p:cNvPr>
          <p:cNvSpPr>
            <a:spLocks noGrp="1"/>
          </p:cNvSpPr>
          <p:nvPr>
            <p:ph type="title"/>
          </p:nvPr>
        </p:nvSpPr>
        <p:spPr>
          <a:xfrm>
            <a:off x="1690124" y="287247"/>
            <a:ext cx="9414117" cy="743417"/>
          </a:xfrm>
        </p:spPr>
        <p:txBody>
          <a:bodyPr/>
          <a:lstStyle/>
          <a:p>
            <a:r>
              <a:rPr lang="en-US" dirty="0"/>
              <a:t>Methods Cont.</a:t>
            </a:r>
          </a:p>
        </p:txBody>
      </p:sp>
      <p:sp>
        <p:nvSpPr>
          <p:cNvPr id="3" name="TextBox 2">
            <a:extLst>
              <a:ext uri="{FF2B5EF4-FFF2-40B4-BE49-F238E27FC236}">
                <a16:creationId xmlns:a16="http://schemas.microsoft.com/office/drawing/2014/main" id="{55A5ADFA-6025-39FD-6D57-12EE216A10BA}"/>
              </a:ext>
            </a:extLst>
          </p:cNvPr>
          <p:cNvSpPr txBox="1"/>
          <p:nvPr/>
        </p:nvSpPr>
        <p:spPr>
          <a:xfrm>
            <a:off x="2071328" y="1813341"/>
            <a:ext cx="8444272" cy="1661993"/>
          </a:xfrm>
          <a:prstGeom prst="rect">
            <a:avLst/>
          </a:prstGeom>
          <a:noFill/>
        </p:spPr>
        <p:txBody>
          <a:bodyPr wrap="square" rtlCol="0">
            <a:spAutoFit/>
          </a:bodyPr>
          <a:lstStyle/>
          <a:p>
            <a:r>
              <a:rPr lang="en-US" sz="2800" b="1" dirty="0">
                <a:latin typeface="Georgia" panose="02040502050405020303" pitchFamily="18" charset="0"/>
              </a:rPr>
              <a:t>Statistical Analysis:</a:t>
            </a:r>
          </a:p>
          <a:p>
            <a:pPr marL="457200" indent="-457200">
              <a:buFont typeface="Arial" panose="020B0604020202020204" pitchFamily="34" charset="0"/>
              <a:buChar char="•"/>
            </a:pPr>
            <a:r>
              <a:rPr lang="en-US" sz="2800" i="1" dirty="0">
                <a:solidFill>
                  <a:srgbClr val="C8102E"/>
                </a:solidFill>
                <a:latin typeface="Georgia" panose="02040502050405020303" pitchFamily="18" charset="0"/>
              </a:rPr>
              <a:t>Exploratory Data Analysis:</a:t>
            </a:r>
          </a:p>
          <a:p>
            <a:pPr marL="914400" lvl="1" indent="-457200">
              <a:buFont typeface="Courier New" panose="02070309020205020404" pitchFamily="49" charset="0"/>
              <a:buChar char="o"/>
            </a:pPr>
            <a:r>
              <a:rPr lang="en-US" sz="2800" dirty="0">
                <a:latin typeface="Georgia" panose="02040502050405020303" pitchFamily="18" charset="0"/>
              </a:rPr>
              <a:t>Heatmap; Boxplot; Scatterplot. </a:t>
            </a:r>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CAE1A18B-D75D-F062-E161-4E5D958A9AD6}"/>
              </a:ext>
            </a:extLst>
          </p:cNvPr>
          <p:cNvSpPr txBox="1"/>
          <p:nvPr/>
        </p:nvSpPr>
        <p:spPr>
          <a:xfrm>
            <a:off x="2223728" y="3223041"/>
            <a:ext cx="9777772" cy="1661993"/>
          </a:xfrm>
          <a:prstGeom prst="rect">
            <a:avLst/>
          </a:prstGeom>
          <a:noFill/>
        </p:spPr>
        <p:txBody>
          <a:bodyPr wrap="square" rtlCol="0">
            <a:spAutoFit/>
          </a:bodyPr>
          <a:lstStyle/>
          <a:p>
            <a:pPr marL="457200" indent="-457200">
              <a:buFont typeface="Arial" panose="020B0604020202020204" pitchFamily="34" charset="0"/>
              <a:buChar char="•"/>
            </a:pPr>
            <a:r>
              <a:rPr lang="en-US" sz="2800" i="1" dirty="0">
                <a:solidFill>
                  <a:srgbClr val="C8102E"/>
                </a:solidFill>
                <a:latin typeface="Georgia" panose="02040502050405020303" pitchFamily="18" charset="0"/>
              </a:rPr>
              <a:t>Statistical and Machine Learning Methods:</a:t>
            </a:r>
          </a:p>
          <a:p>
            <a:pPr marL="914400" lvl="1" indent="-457200">
              <a:buFont typeface="Courier New" panose="02070309020205020404" pitchFamily="49" charset="0"/>
              <a:buChar char="o"/>
            </a:pPr>
            <a:r>
              <a:rPr lang="en-US" sz="2800" dirty="0">
                <a:latin typeface="Georgia" panose="02040502050405020303" pitchFamily="18" charset="0"/>
              </a:rPr>
              <a:t>Binary Logistic Regression (LR); XGBoost (</a:t>
            </a:r>
            <a:r>
              <a:rPr lang="en-US" sz="2800" dirty="0" err="1">
                <a:latin typeface="Georgia" panose="02040502050405020303" pitchFamily="18" charset="0"/>
              </a:rPr>
              <a:t>XgB</a:t>
            </a:r>
            <a:r>
              <a:rPr lang="en-US" sz="2800" dirty="0">
                <a:latin typeface="Georgia" panose="02040502050405020303" pitchFamily="18" charset="0"/>
              </a:rPr>
              <a:t>); Random Forest (RF).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30793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9B15B-5127-7544-7468-4675C4E8B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4F75A-F054-3927-B389-139A58BDFC25}"/>
              </a:ext>
            </a:extLst>
          </p:cNvPr>
          <p:cNvSpPr>
            <a:spLocks noGrp="1"/>
          </p:cNvSpPr>
          <p:nvPr>
            <p:ph type="title"/>
          </p:nvPr>
        </p:nvSpPr>
        <p:spPr>
          <a:xfrm>
            <a:off x="1690124" y="236447"/>
            <a:ext cx="9414117" cy="743417"/>
          </a:xfrm>
        </p:spPr>
        <p:txBody>
          <a:bodyPr/>
          <a:lstStyle/>
          <a:p>
            <a:r>
              <a:rPr lang="en-US" b="0" dirty="0"/>
              <a:t>Methods Cont.</a:t>
            </a:r>
            <a:endParaRPr lang="en-US" dirty="0"/>
          </a:p>
        </p:txBody>
      </p:sp>
      <p:sp>
        <p:nvSpPr>
          <p:cNvPr id="4" name="TextBox 3">
            <a:extLst>
              <a:ext uri="{FF2B5EF4-FFF2-40B4-BE49-F238E27FC236}">
                <a16:creationId xmlns:a16="http://schemas.microsoft.com/office/drawing/2014/main" id="{87DE1BCC-5C2F-515D-6D99-F130DE9BD01C}"/>
              </a:ext>
            </a:extLst>
          </p:cNvPr>
          <p:cNvSpPr txBox="1"/>
          <p:nvPr/>
        </p:nvSpPr>
        <p:spPr>
          <a:xfrm>
            <a:off x="2286000" y="1502163"/>
            <a:ext cx="9131300" cy="3539430"/>
          </a:xfrm>
          <a:prstGeom prst="rect">
            <a:avLst/>
          </a:prstGeom>
          <a:noFill/>
        </p:spPr>
        <p:txBody>
          <a:bodyPr wrap="square">
            <a:spAutoFit/>
          </a:bodyPr>
          <a:lstStyle/>
          <a:p>
            <a:r>
              <a:rPr lang="en-US" sz="2800" b="1" dirty="0">
                <a:latin typeface="Georgia" panose="02040502050405020303" pitchFamily="18" charset="0"/>
              </a:rPr>
              <a:t>Statistical Analysis:</a:t>
            </a:r>
            <a:endParaRPr lang="en-US" sz="2800" b="1" dirty="0">
              <a:solidFill>
                <a:srgbClr val="C00000"/>
              </a:solidFill>
              <a:latin typeface="Georgia" panose="02040502050405020303" pitchFamily="18" charset="0"/>
            </a:endParaRPr>
          </a:p>
          <a:p>
            <a:pPr marL="457200" indent="-457200">
              <a:buFont typeface="Arial" panose="020B0604020202020204" pitchFamily="34" charset="0"/>
              <a:buChar char="•"/>
            </a:pPr>
            <a:r>
              <a:rPr lang="en-US" sz="2800" i="1" dirty="0">
                <a:solidFill>
                  <a:srgbClr val="C8102E"/>
                </a:solidFill>
                <a:latin typeface="Georgia" panose="02040502050405020303" pitchFamily="18" charset="0"/>
              </a:rPr>
              <a:t>Model Evaluation Metrics:</a:t>
            </a:r>
            <a:endParaRPr lang="en-US" sz="2800" dirty="0">
              <a:latin typeface="Georgia" panose="02040502050405020303" pitchFamily="18" charset="0"/>
            </a:endParaRPr>
          </a:p>
          <a:p>
            <a:pPr marL="914400" lvl="1" indent="-457200">
              <a:buFont typeface="Courier New" panose="02070309020205020404" pitchFamily="49" charset="0"/>
              <a:buChar char="o"/>
            </a:pPr>
            <a:r>
              <a:rPr lang="en-US" sz="2800" dirty="0">
                <a:latin typeface="Georgia" panose="02040502050405020303" pitchFamily="18" charset="0"/>
              </a:rPr>
              <a:t>Confusion Matrix</a:t>
            </a:r>
          </a:p>
          <a:p>
            <a:pPr marL="914400" lvl="1" indent="-457200">
              <a:buFont typeface="Courier New" panose="02070309020205020404" pitchFamily="49" charset="0"/>
              <a:buChar char="o"/>
            </a:pPr>
            <a:r>
              <a:rPr lang="en-US" sz="2800" dirty="0">
                <a:latin typeface="Georgia" panose="02040502050405020303" pitchFamily="18" charset="0"/>
              </a:rPr>
              <a:t>Precision</a:t>
            </a:r>
          </a:p>
          <a:p>
            <a:pPr marL="914400" lvl="1" indent="-457200">
              <a:buFont typeface="Courier New" panose="02070309020205020404" pitchFamily="49" charset="0"/>
              <a:buChar char="o"/>
            </a:pPr>
            <a:r>
              <a:rPr lang="en-US" sz="2800" dirty="0">
                <a:latin typeface="Georgia" panose="02040502050405020303" pitchFamily="18" charset="0"/>
              </a:rPr>
              <a:t>Recall</a:t>
            </a:r>
          </a:p>
          <a:p>
            <a:pPr marL="914400" lvl="1" indent="-457200">
              <a:buFont typeface="Courier New" panose="02070309020205020404" pitchFamily="49" charset="0"/>
              <a:buChar char="o"/>
            </a:pPr>
            <a:r>
              <a:rPr lang="en-US" sz="2800" dirty="0">
                <a:latin typeface="Georgia" panose="02040502050405020303" pitchFamily="18" charset="0"/>
              </a:rPr>
              <a:t>F-1 Score</a:t>
            </a:r>
          </a:p>
          <a:p>
            <a:pPr marL="914400" lvl="1" indent="-457200">
              <a:buFont typeface="Courier New" panose="02070309020205020404" pitchFamily="49" charset="0"/>
              <a:buChar char="o"/>
            </a:pPr>
            <a:r>
              <a:rPr lang="en-US" sz="2800" dirty="0">
                <a:latin typeface="Georgia" panose="02040502050405020303" pitchFamily="18" charset="0"/>
              </a:rPr>
              <a:t>Precision Recall – Area Under the Curve (PR-AUC)</a:t>
            </a:r>
          </a:p>
          <a:p>
            <a:endParaRPr lang="en-US" sz="2800" dirty="0">
              <a:latin typeface="Georgia" panose="02040502050405020303" pitchFamily="18" charset="0"/>
            </a:endParaRPr>
          </a:p>
        </p:txBody>
      </p:sp>
    </p:spTree>
    <p:extLst>
      <p:ext uri="{BB962C8B-B14F-4D97-AF65-F5344CB8AC3E}">
        <p14:creationId xmlns:p14="http://schemas.microsoft.com/office/powerpoint/2010/main" val="1122910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A1EF6-E0F0-134F-972E-972142CF9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C92AD-D15F-EB52-C963-E71EBED05BB4}"/>
              </a:ext>
            </a:extLst>
          </p:cNvPr>
          <p:cNvSpPr>
            <a:spLocks noGrp="1"/>
          </p:cNvSpPr>
          <p:nvPr>
            <p:ph type="title"/>
          </p:nvPr>
        </p:nvSpPr>
        <p:spPr>
          <a:xfrm>
            <a:off x="99550" y="1111742"/>
            <a:ext cx="9017977" cy="1060925"/>
          </a:xfrm>
        </p:spPr>
        <p:txBody>
          <a:bodyPr anchor="b">
            <a:noAutofit/>
          </a:bodyPr>
          <a:lstStyle/>
          <a:p>
            <a:r>
              <a:rPr lang="en-US" b="0" dirty="0"/>
              <a:t>Results</a:t>
            </a:r>
            <a:r>
              <a:rPr lang="en-US" dirty="0"/>
              <a:t>:</a:t>
            </a:r>
            <a:br>
              <a:rPr lang="en-US" dirty="0"/>
            </a:br>
            <a:br>
              <a:rPr lang="en-US" dirty="0"/>
            </a:br>
            <a:endParaRPr lang="en-US" dirty="0"/>
          </a:p>
        </p:txBody>
      </p:sp>
      <p:pic>
        <p:nvPicPr>
          <p:cNvPr id="6" name="Picture 5">
            <a:extLst>
              <a:ext uri="{FF2B5EF4-FFF2-40B4-BE49-F238E27FC236}">
                <a16:creationId xmlns:a16="http://schemas.microsoft.com/office/drawing/2014/main" id="{1B662A36-122F-053E-5874-6AFA423A4C4E}"/>
              </a:ext>
            </a:extLst>
          </p:cNvPr>
          <p:cNvPicPr>
            <a:picLocks noChangeAspect="1"/>
          </p:cNvPicPr>
          <p:nvPr/>
        </p:nvPicPr>
        <p:blipFill>
          <a:blip r:embed="rId3"/>
          <a:stretch>
            <a:fillRect/>
          </a:stretch>
        </p:blipFill>
        <p:spPr>
          <a:xfrm>
            <a:off x="3791193" y="5707476"/>
            <a:ext cx="4609613" cy="711882"/>
          </a:xfrm>
          <a:prstGeom prst="rect">
            <a:avLst/>
          </a:prstGeom>
        </p:spPr>
      </p:pic>
      <p:pic>
        <p:nvPicPr>
          <p:cNvPr id="8" name="Picture 7">
            <a:extLst>
              <a:ext uri="{FF2B5EF4-FFF2-40B4-BE49-F238E27FC236}">
                <a16:creationId xmlns:a16="http://schemas.microsoft.com/office/drawing/2014/main" id="{8AB64963-FBF8-8699-33EF-4C44AE018474}"/>
              </a:ext>
            </a:extLst>
          </p:cNvPr>
          <p:cNvPicPr>
            <a:picLocks noChangeAspect="1"/>
          </p:cNvPicPr>
          <p:nvPr/>
        </p:nvPicPr>
        <p:blipFill>
          <a:blip r:embed="rId4"/>
          <a:stretch>
            <a:fillRect/>
          </a:stretch>
        </p:blipFill>
        <p:spPr>
          <a:xfrm>
            <a:off x="1003300" y="760826"/>
            <a:ext cx="5092699" cy="4819650"/>
          </a:xfrm>
          <a:prstGeom prst="rect">
            <a:avLst/>
          </a:prstGeom>
        </p:spPr>
      </p:pic>
      <p:pic>
        <p:nvPicPr>
          <p:cNvPr id="10" name="Picture 9">
            <a:extLst>
              <a:ext uri="{FF2B5EF4-FFF2-40B4-BE49-F238E27FC236}">
                <a16:creationId xmlns:a16="http://schemas.microsoft.com/office/drawing/2014/main" id="{14469B58-C8EF-D372-0963-8FE405D10886}"/>
              </a:ext>
            </a:extLst>
          </p:cNvPr>
          <p:cNvPicPr>
            <a:picLocks noChangeAspect="1"/>
          </p:cNvPicPr>
          <p:nvPr/>
        </p:nvPicPr>
        <p:blipFill>
          <a:blip r:embed="rId5"/>
          <a:stretch>
            <a:fillRect/>
          </a:stretch>
        </p:blipFill>
        <p:spPr>
          <a:xfrm>
            <a:off x="5790283" y="851967"/>
            <a:ext cx="5221046" cy="4728509"/>
          </a:xfrm>
          <a:prstGeom prst="rect">
            <a:avLst/>
          </a:prstGeom>
        </p:spPr>
      </p:pic>
      <p:sp>
        <p:nvSpPr>
          <p:cNvPr id="9" name="TextBox 8">
            <a:extLst>
              <a:ext uri="{FF2B5EF4-FFF2-40B4-BE49-F238E27FC236}">
                <a16:creationId xmlns:a16="http://schemas.microsoft.com/office/drawing/2014/main" id="{F8948A99-E2E8-C947-4E0D-2EAB3BCB8689}"/>
              </a:ext>
            </a:extLst>
          </p:cNvPr>
          <p:cNvSpPr txBox="1"/>
          <p:nvPr/>
        </p:nvSpPr>
        <p:spPr>
          <a:xfrm>
            <a:off x="3243287" y="5655585"/>
            <a:ext cx="1435100" cy="338554"/>
          </a:xfrm>
          <a:prstGeom prst="rect">
            <a:avLst/>
          </a:prstGeom>
          <a:noFill/>
        </p:spPr>
        <p:txBody>
          <a:bodyPr wrap="square" rtlCol="0">
            <a:spAutoFit/>
          </a:bodyPr>
          <a:lstStyle/>
          <a:p>
            <a:r>
              <a:rPr lang="en-US" sz="1600" b="1" dirty="0"/>
              <a:t>Fig 1:</a:t>
            </a:r>
          </a:p>
        </p:txBody>
      </p:sp>
    </p:spTree>
    <p:extLst>
      <p:ext uri="{BB962C8B-B14F-4D97-AF65-F5344CB8AC3E}">
        <p14:creationId xmlns:p14="http://schemas.microsoft.com/office/powerpoint/2010/main" val="1419905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F74A1-04BE-E0C9-8726-129EA3EBBE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31B3F7-E5D4-F7A1-8954-BBEE9698C472}"/>
              </a:ext>
            </a:extLst>
          </p:cNvPr>
          <p:cNvSpPr txBox="1"/>
          <p:nvPr/>
        </p:nvSpPr>
        <p:spPr>
          <a:xfrm>
            <a:off x="2529341" y="6355834"/>
            <a:ext cx="5213575" cy="369332"/>
          </a:xfrm>
          <a:prstGeom prst="rect">
            <a:avLst/>
          </a:prstGeom>
          <a:noFill/>
        </p:spPr>
        <p:txBody>
          <a:bodyPr wrap="square" rtlCol="0">
            <a:spAutoFit/>
          </a:bodyPr>
          <a:lstStyle/>
          <a:p>
            <a:pPr algn="ctr"/>
            <a:r>
              <a:rPr lang="en-US" b="1" dirty="0"/>
              <a:t>Fig 2</a:t>
            </a:r>
            <a:r>
              <a:rPr lang="en-US" dirty="0"/>
              <a:t>: Correlation Heatmap</a:t>
            </a:r>
          </a:p>
        </p:txBody>
      </p:sp>
      <p:pic>
        <p:nvPicPr>
          <p:cNvPr id="5122" name="Picture 2">
            <a:extLst>
              <a:ext uri="{FF2B5EF4-FFF2-40B4-BE49-F238E27FC236}">
                <a16:creationId xmlns:a16="http://schemas.microsoft.com/office/drawing/2014/main" id="{A86136AB-B571-7D87-C9F5-3704655ACE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646"/>
          <a:stretch>
            <a:fillRect/>
          </a:stretch>
        </p:blipFill>
        <p:spPr bwMode="auto">
          <a:xfrm>
            <a:off x="2138928" y="1027700"/>
            <a:ext cx="6433572" cy="522821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3609E97E-B0F8-ECB7-41BB-81F11E673E60}"/>
              </a:ext>
            </a:extLst>
          </p:cNvPr>
          <p:cNvSpPr>
            <a:spLocks noGrp="1"/>
          </p:cNvSpPr>
          <p:nvPr>
            <p:ph type="title"/>
          </p:nvPr>
        </p:nvSpPr>
        <p:spPr>
          <a:xfrm>
            <a:off x="266701" y="317500"/>
            <a:ext cx="11235780" cy="710200"/>
          </a:xfrm>
        </p:spPr>
        <p:txBody>
          <a:bodyPr/>
          <a:lstStyle/>
          <a:p>
            <a:r>
              <a:rPr lang="en-US" b="0" dirty="0"/>
              <a:t>Results Cont.</a:t>
            </a:r>
          </a:p>
        </p:txBody>
      </p:sp>
    </p:spTree>
    <p:extLst>
      <p:ext uri="{BB962C8B-B14F-4D97-AF65-F5344CB8AC3E}">
        <p14:creationId xmlns:p14="http://schemas.microsoft.com/office/powerpoint/2010/main" val="224863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6F015-3784-3665-2911-54205306E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E7363-E801-A635-4931-60B9FC35132D}"/>
              </a:ext>
            </a:extLst>
          </p:cNvPr>
          <p:cNvSpPr>
            <a:spLocks noGrp="1"/>
          </p:cNvSpPr>
          <p:nvPr>
            <p:ph type="title"/>
          </p:nvPr>
        </p:nvSpPr>
        <p:spPr>
          <a:xfrm>
            <a:off x="99550" y="1314942"/>
            <a:ext cx="9017977" cy="1060925"/>
          </a:xfrm>
        </p:spPr>
        <p:txBody>
          <a:bodyPr anchor="b">
            <a:noAutofit/>
          </a:bodyPr>
          <a:lstStyle/>
          <a:p>
            <a:r>
              <a:rPr lang="en-US" b="0" dirty="0"/>
              <a:t>Results(EDA):</a:t>
            </a:r>
            <a:br>
              <a:rPr lang="en-US" b="0" dirty="0"/>
            </a:br>
            <a:br>
              <a:rPr lang="en-US" b="0" dirty="0"/>
            </a:br>
            <a:endParaRPr lang="en-US" b="0" dirty="0"/>
          </a:p>
        </p:txBody>
      </p:sp>
      <p:pic>
        <p:nvPicPr>
          <p:cNvPr id="4" name="Picture 3">
            <a:extLst>
              <a:ext uri="{FF2B5EF4-FFF2-40B4-BE49-F238E27FC236}">
                <a16:creationId xmlns:a16="http://schemas.microsoft.com/office/drawing/2014/main" id="{0887093B-E651-BA78-90A3-75BB06749BD0}"/>
              </a:ext>
            </a:extLst>
          </p:cNvPr>
          <p:cNvPicPr>
            <a:picLocks noChangeAspect="1"/>
          </p:cNvPicPr>
          <p:nvPr/>
        </p:nvPicPr>
        <p:blipFill>
          <a:blip r:embed="rId3"/>
          <a:stretch>
            <a:fillRect/>
          </a:stretch>
        </p:blipFill>
        <p:spPr>
          <a:xfrm>
            <a:off x="3178082" y="5443869"/>
            <a:ext cx="4953000" cy="781050"/>
          </a:xfrm>
          <a:prstGeom prst="rect">
            <a:avLst/>
          </a:prstGeom>
        </p:spPr>
      </p:pic>
      <p:pic>
        <p:nvPicPr>
          <p:cNvPr id="8" name="Picture 7">
            <a:extLst>
              <a:ext uri="{FF2B5EF4-FFF2-40B4-BE49-F238E27FC236}">
                <a16:creationId xmlns:a16="http://schemas.microsoft.com/office/drawing/2014/main" id="{E1CB808C-B89F-8900-8671-BCB049379373}"/>
              </a:ext>
            </a:extLst>
          </p:cNvPr>
          <p:cNvPicPr>
            <a:picLocks noChangeAspect="1"/>
          </p:cNvPicPr>
          <p:nvPr/>
        </p:nvPicPr>
        <p:blipFill>
          <a:blip r:embed="rId4"/>
          <a:stretch>
            <a:fillRect/>
          </a:stretch>
        </p:blipFill>
        <p:spPr>
          <a:xfrm>
            <a:off x="490746" y="2208067"/>
            <a:ext cx="5374672" cy="2684673"/>
          </a:xfrm>
          <a:prstGeom prst="rect">
            <a:avLst/>
          </a:prstGeom>
        </p:spPr>
      </p:pic>
      <p:pic>
        <p:nvPicPr>
          <p:cNvPr id="10" name="Picture 9">
            <a:extLst>
              <a:ext uri="{FF2B5EF4-FFF2-40B4-BE49-F238E27FC236}">
                <a16:creationId xmlns:a16="http://schemas.microsoft.com/office/drawing/2014/main" id="{7EC728DA-D390-5381-B8E5-87855407C82A}"/>
              </a:ext>
            </a:extLst>
          </p:cNvPr>
          <p:cNvPicPr>
            <a:picLocks noChangeAspect="1"/>
          </p:cNvPicPr>
          <p:nvPr/>
        </p:nvPicPr>
        <p:blipFill>
          <a:blip r:embed="rId5"/>
          <a:stretch>
            <a:fillRect/>
          </a:stretch>
        </p:blipFill>
        <p:spPr>
          <a:xfrm>
            <a:off x="6191939" y="2217899"/>
            <a:ext cx="5691797" cy="2737559"/>
          </a:xfrm>
          <a:prstGeom prst="rect">
            <a:avLst/>
          </a:prstGeom>
        </p:spPr>
      </p:pic>
      <p:sp>
        <p:nvSpPr>
          <p:cNvPr id="5" name="TextBox 4">
            <a:extLst>
              <a:ext uri="{FF2B5EF4-FFF2-40B4-BE49-F238E27FC236}">
                <a16:creationId xmlns:a16="http://schemas.microsoft.com/office/drawing/2014/main" id="{92A12147-613A-B217-1F3C-9B0400FFD4D2}"/>
              </a:ext>
            </a:extLst>
          </p:cNvPr>
          <p:cNvSpPr txBox="1"/>
          <p:nvPr/>
        </p:nvSpPr>
        <p:spPr>
          <a:xfrm>
            <a:off x="2667000" y="5390634"/>
            <a:ext cx="6172200" cy="369332"/>
          </a:xfrm>
          <a:prstGeom prst="rect">
            <a:avLst/>
          </a:prstGeom>
          <a:noFill/>
        </p:spPr>
        <p:txBody>
          <a:bodyPr wrap="square">
            <a:spAutoFit/>
          </a:bodyPr>
          <a:lstStyle/>
          <a:p>
            <a:r>
              <a:rPr lang="en-US" b="1" dirty="0"/>
              <a:t>Fig 3:</a:t>
            </a:r>
            <a:endParaRPr lang="en-US" dirty="0"/>
          </a:p>
        </p:txBody>
      </p:sp>
    </p:spTree>
    <p:extLst>
      <p:ext uri="{BB962C8B-B14F-4D97-AF65-F5344CB8AC3E}">
        <p14:creationId xmlns:p14="http://schemas.microsoft.com/office/powerpoint/2010/main" val="2770198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EBE47-24EE-90CE-4927-1414338F9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CEE03-63B8-4398-640F-B52B120766B6}"/>
              </a:ext>
            </a:extLst>
          </p:cNvPr>
          <p:cNvSpPr>
            <a:spLocks noGrp="1"/>
          </p:cNvSpPr>
          <p:nvPr>
            <p:ph type="title"/>
          </p:nvPr>
        </p:nvSpPr>
        <p:spPr>
          <a:xfrm>
            <a:off x="1690124" y="236447"/>
            <a:ext cx="9414117" cy="743417"/>
          </a:xfrm>
        </p:spPr>
        <p:txBody>
          <a:bodyPr/>
          <a:lstStyle/>
          <a:p>
            <a:r>
              <a:rPr lang="en-US" b="0" dirty="0"/>
              <a:t>Results Cont.</a:t>
            </a:r>
            <a:endParaRPr lang="en-US" dirty="0"/>
          </a:p>
        </p:txBody>
      </p:sp>
      <p:grpSp>
        <p:nvGrpSpPr>
          <p:cNvPr id="5" name="Group 4">
            <a:extLst>
              <a:ext uri="{FF2B5EF4-FFF2-40B4-BE49-F238E27FC236}">
                <a16:creationId xmlns:a16="http://schemas.microsoft.com/office/drawing/2014/main" id="{E99B0CC0-8684-A27F-ECFE-88F7178F7A06}"/>
              </a:ext>
            </a:extLst>
          </p:cNvPr>
          <p:cNvGrpSpPr/>
          <p:nvPr/>
        </p:nvGrpSpPr>
        <p:grpSpPr>
          <a:xfrm>
            <a:off x="3581274" y="1485899"/>
            <a:ext cx="6286626" cy="4940183"/>
            <a:chOff x="3581274" y="1663699"/>
            <a:chExt cx="6286626" cy="4940183"/>
          </a:xfrm>
        </p:grpSpPr>
        <p:pic>
          <p:nvPicPr>
            <p:cNvPr id="2054" name="Picture 6">
              <a:extLst>
                <a:ext uri="{FF2B5EF4-FFF2-40B4-BE49-F238E27FC236}">
                  <a16:creationId xmlns:a16="http://schemas.microsoft.com/office/drawing/2014/main" id="{ED15D251-ED63-2EC2-DCA8-803618A499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883"/>
            <a:stretch>
              <a:fillRect/>
            </a:stretch>
          </p:blipFill>
          <p:spPr bwMode="auto">
            <a:xfrm>
              <a:off x="3581274" y="1663699"/>
              <a:ext cx="5631816" cy="44174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F84AD0-A031-78FF-EF17-BC5C76C21457}"/>
                </a:ext>
              </a:extLst>
            </p:cNvPr>
            <p:cNvSpPr txBox="1"/>
            <p:nvPr/>
          </p:nvSpPr>
          <p:spPr>
            <a:xfrm>
              <a:off x="3771900" y="6234550"/>
              <a:ext cx="6096000" cy="369332"/>
            </a:xfrm>
            <a:prstGeom prst="rect">
              <a:avLst/>
            </a:prstGeom>
            <a:noFill/>
          </p:spPr>
          <p:txBody>
            <a:bodyPr wrap="square">
              <a:spAutoFit/>
            </a:bodyPr>
            <a:lstStyle/>
            <a:p>
              <a:r>
                <a:rPr lang="en-US" b="1" dirty="0"/>
                <a:t>                          Fig 4: </a:t>
              </a:r>
              <a:r>
                <a:rPr lang="en-US" dirty="0"/>
                <a:t>Confusion Matrix of LR</a:t>
              </a:r>
            </a:p>
          </p:txBody>
        </p:sp>
      </p:grpSp>
    </p:spTree>
    <p:extLst>
      <p:ext uri="{BB962C8B-B14F-4D97-AF65-F5344CB8AC3E}">
        <p14:creationId xmlns:p14="http://schemas.microsoft.com/office/powerpoint/2010/main" val="4188841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1FCFD-BAB7-0C72-AFC9-59AEC3E33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82B01-6B46-2E5B-B46B-15C8E4983341}"/>
              </a:ext>
            </a:extLst>
          </p:cNvPr>
          <p:cNvSpPr>
            <a:spLocks noGrp="1"/>
          </p:cNvSpPr>
          <p:nvPr>
            <p:ph type="title"/>
          </p:nvPr>
        </p:nvSpPr>
        <p:spPr>
          <a:xfrm>
            <a:off x="1690124" y="236447"/>
            <a:ext cx="9414117" cy="743417"/>
          </a:xfrm>
        </p:spPr>
        <p:txBody>
          <a:bodyPr/>
          <a:lstStyle/>
          <a:p>
            <a:r>
              <a:rPr lang="en-US" b="0" dirty="0"/>
              <a:t>Results Cont.</a:t>
            </a:r>
            <a:endParaRPr lang="en-US" dirty="0"/>
          </a:p>
        </p:txBody>
      </p:sp>
      <p:grpSp>
        <p:nvGrpSpPr>
          <p:cNvPr id="3" name="Group 2">
            <a:extLst>
              <a:ext uri="{FF2B5EF4-FFF2-40B4-BE49-F238E27FC236}">
                <a16:creationId xmlns:a16="http://schemas.microsoft.com/office/drawing/2014/main" id="{EE0D4A6D-92AB-8518-9D18-EDF9FFDEA2B7}"/>
              </a:ext>
            </a:extLst>
          </p:cNvPr>
          <p:cNvGrpSpPr/>
          <p:nvPr/>
        </p:nvGrpSpPr>
        <p:grpSpPr>
          <a:xfrm>
            <a:off x="3683000" y="1435100"/>
            <a:ext cx="6096000" cy="5067182"/>
            <a:chOff x="3937000" y="1447800"/>
            <a:chExt cx="6096000" cy="5067182"/>
          </a:xfrm>
        </p:grpSpPr>
        <p:pic>
          <p:nvPicPr>
            <p:cNvPr id="2056" name="Picture 8">
              <a:extLst>
                <a:ext uri="{FF2B5EF4-FFF2-40B4-BE49-F238E27FC236}">
                  <a16:creationId xmlns:a16="http://schemas.microsoft.com/office/drawing/2014/main" id="{0100003D-DB3B-B337-919D-0F1ACAE983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821"/>
            <a:stretch>
              <a:fillRect/>
            </a:stretch>
          </p:blipFill>
          <p:spPr bwMode="auto">
            <a:xfrm>
              <a:off x="4055302" y="1447800"/>
              <a:ext cx="5609398" cy="46387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EAB07E9-2F8D-673E-8C3B-BA5F22231E0E}"/>
                </a:ext>
              </a:extLst>
            </p:cNvPr>
            <p:cNvSpPr txBox="1"/>
            <p:nvPr/>
          </p:nvSpPr>
          <p:spPr>
            <a:xfrm>
              <a:off x="3937000" y="6145650"/>
              <a:ext cx="6096000" cy="369332"/>
            </a:xfrm>
            <a:prstGeom prst="rect">
              <a:avLst/>
            </a:prstGeom>
            <a:noFill/>
          </p:spPr>
          <p:txBody>
            <a:bodyPr wrap="square">
              <a:spAutoFit/>
            </a:bodyPr>
            <a:lstStyle/>
            <a:p>
              <a:pPr algn="ctr"/>
              <a:r>
                <a:rPr lang="en-US" b="1" dirty="0"/>
                <a:t>Fig 5: </a:t>
              </a:r>
              <a:r>
                <a:rPr lang="en-US" dirty="0"/>
                <a:t>Confusion Matrix of RF</a:t>
              </a:r>
            </a:p>
          </p:txBody>
        </p:sp>
      </p:grpSp>
    </p:spTree>
    <p:extLst>
      <p:ext uri="{BB962C8B-B14F-4D97-AF65-F5344CB8AC3E}">
        <p14:creationId xmlns:p14="http://schemas.microsoft.com/office/powerpoint/2010/main" val="2714795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B4DA4-E081-12B6-C18D-522D1D3DE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93D53-83B8-134A-2C2C-8AB4447EADB9}"/>
              </a:ext>
            </a:extLst>
          </p:cNvPr>
          <p:cNvSpPr>
            <a:spLocks noGrp="1"/>
          </p:cNvSpPr>
          <p:nvPr>
            <p:ph type="title"/>
          </p:nvPr>
        </p:nvSpPr>
        <p:spPr>
          <a:xfrm>
            <a:off x="1690124" y="236447"/>
            <a:ext cx="9414117" cy="743417"/>
          </a:xfrm>
        </p:spPr>
        <p:txBody>
          <a:bodyPr/>
          <a:lstStyle/>
          <a:p>
            <a:r>
              <a:rPr lang="en-US" dirty="0"/>
              <a:t>Results Cont.</a:t>
            </a:r>
          </a:p>
        </p:txBody>
      </p:sp>
      <p:graphicFrame>
        <p:nvGraphicFramePr>
          <p:cNvPr id="11" name="Table 10">
            <a:extLst>
              <a:ext uri="{FF2B5EF4-FFF2-40B4-BE49-F238E27FC236}">
                <a16:creationId xmlns:a16="http://schemas.microsoft.com/office/drawing/2014/main" id="{7E1F2A8C-A624-853E-0753-CCCA005A4215}"/>
              </a:ext>
            </a:extLst>
          </p:cNvPr>
          <p:cNvGraphicFramePr>
            <a:graphicFrameLocks noGrp="1"/>
          </p:cNvGraphicFramePr>
          <p:nvPr>
            <p:extLst>
              <p:ext uri="{D42A27DB-BD31-4B8C-83A1-F6EECF244321}">
                <p14:modId xmlns:p14="http://schemas.microsoft.com/office/powerpoint/2010/main" val="2817184271"/>
              </p:ext>
            </p:extLst>
          </p:nvPr>
        </p:nvGraphicFramePr>
        <p:xfrm>
          <a:off x="2585884" y="2089945"/>
          <a:ext cx="8128000" cy="2682240"/>
        </p:xfrm>
        <a:graphic>
          <a:graphicData uri="http://schemas.openxmlformats.org/drawingml/2006/table">
            <a:tbl>
              <a:tblPr firstRow="1" bandRow="1">
                <a:tableStyleId>{68D230F3-CF80-4859-8CE7-A43EE81993B5}</a:tableStyleId>
              </a:tblPr>
              <a:tblGrid>
                <a:gridCol w="2032000">
                  <a:extLst>
                    <a:ext uri="{9D8B030D-6E8A-4147-A177-3AD203B41FA5}">
                      <a16:colId xmlns:a16="http://schemas.microsoft.com/office/drawing/2014/main" val="1839466381"/>
                    </a:ext>
                  </a:extLst>
                </a:gridCol>
                <a:gridCol w="2032000">
                  <a:extLst>
                    <a:ext uri="{9D8B030D-6E8A-4147-A177-3AD203B41FA5}">
                      <a16:colId xmlns:a16="http://schemas.microsoft.com/office/drawing/2014/main" val="2271482357"/>
                    </a:ext>
                  </a:extLst>
                </a:gridCol>
                <a:gridCol w="2032000">
                  <a:extLst>
                    <a:ext uri="{9D8B030D-6E8A-4147-A177-3AD203B41FA5}">
                      <a16:colId xmlns:a16="http://schemas.microsoft.com/office/drawing/2014/main" val="1823930287"/>
                    </a:ext>
                  </a:extLst>
                </a:gridCol>
                <a:gridCol w="2032000">
                  <a:extLst>
                    <a:ext uri="{9D8B030D-6E8A-4147-A177-3AD203B41FA5}">
                      <a16:colId xmlns:a16="http://schemas.microsoft.com/office/drawing/2014/main" val="4213417276"/>
                    </a:ext>
                  </a:extLst>
                </a:gridCol>
              </a:tblGrid>
              <a:tr h="370840">
                <a:tc>
                  <a:txBody>
                    <a:bodyPr/>
                    <a:lstStyle/>
                    <a:p>
                      <a:pPr algn="ctr">
                        <a:buNone/>
                      </a:pPr>
                      <a:r>
                        <a:rPr lang="en-US" sz="2000" dirty="0"/>
                        <a:t>Metric</a:t>
                      </a:r>
                    </a:p>
                  </a:txBody>
                  <a:tcPr anchor="ctr"/>
                </a:tc>
                <a:tc>
                  <a:txBody>
                    <a:bodyPr/>
                    <a:lstStyle/>
                    <a:p>
                      <a:pPr algn="ctr">
                        <a:buNone/>
                      </a:pPr>
                      <a:r>
                        <a:rPr lang="en-US" sz="2000" dirty="0"/>
                        <a:t>Logistic Regression</a:t>
                      </a:r>
                    </a:p>
                  </a:txBody>
                  <a:tcPr anchor="ctr"/>
                </a:tc>
                <a:tc>
                  <a:txBody>
                    <a:bodyPr/>
                    <a:lstStyle/>
                    <a:p>
                      <a:pPr algn="ctr">
                        <a:buNone/>
                      </a:pPr>
                      <a:r>
                        <a:rPr lang="en-US" sz="2000" dirty="0"/>
                        <a:t>XGBoost</a:t>
                      </a:r>
                    </a:p>
                  </a:txBody>
                  <a:tcPr anchor="ctr"/>
                </a:tc>
                <a:tc>
                  <a:txBody>
                    <a:bodyPr/>
                    <a:lstStyle/>
                    <a:p>
                      <a:pPr algn="ctr">
                        <a:buNone/>
                      </a:pPr>
                      <a:r>
                        <a:rPr lang="en-US" sz="2000" dirty="0"/>
                        <a:t>Random Forest</a:t>
                      </a:r>
                    </a:p>
                  </a:txBody>
                  <a:tcPr anchor="ctr"/>
                </a:tc>
                <a:extLst>
                  <a:ext uri="{0D108BD9-81ED-4DB2-BD59-A6C34878D82A}">
                    <a16:rowId xmlns:a16="http://schemas.microsoft.com/office/drawing/2014/main" val="1730655629"/>
                  </a:ext>
                </a:extLst>
              </a:tr>
              <a:tr h="370840">
                <a:tc>
                  <a:txBody>
                    <a:bodyPr/>
                    <a:lstStyle/>
                    <a:p>
                      <a:pPr algn="ctr">
                        <a:buNone/>
                      </a:pPr>
                      <a:r>
                        <a:rPr lang="en-US" sz="2000"/>
                        <a:t>ROC-AUC</a:t>
                      </a:r>
                    </a:p>
                  </a:txBody>
                  <a:tcPr anchor="ctr"/>
                </a:tc>
                <a:tc>
                  <a:txBody>
                    <a:bodyPr/>
                    <a:lstStyle/>
                    <a:p>
                      <a:pPr algn="ctr">
                        <a:buNone/>
                      </a:pPr>
                      <a:r>
                        <a:rPr lang="en-US" sz="2000" dirty="0"/>
                        <a:t>0.81</a:t>
                      </a:r>
                    </a:p>
                  </a:txBody>
                  <a:tcPr anchor="ctr"/>
                </a:tc>
                <a:tc>
                  <a:txBody>
                    <a:bodyPr/>
                    <a:lstStyle/>
                    <a:p>
                      <a:pPr algn="ctr">
                        <a:buNone/>
                      </a:pPr>
                      <a:r>
                        <a:rPr lang="en-US" sz="2000"/>
                        <a:t>0.86</a:t>
                      </a:r>
                    </a:p>
                  </a:txBody>
                  <a:tcPr anchor="ctr"/>
                </a:tc>
                <a:tc>
                  <a:txBody>
                    <a:bodyPr/>
                    <a:lstStyle/>
                    <a:p>
                      <a:pPr algn="ctr">
                        <a:buNone/>
                      </a:pPr>
                      <a:r>
                        <a:rPr lang="en-US" sz="2000"/>
                        <a:t>0.90</a:t>
                      </a:r>
                    </a:p>
                  </a:txBody>
                  <a:tcPr anchor="ctr"/>
                </a:tc>
                <a:extLst>
                  <a:ext uri="{0D108BD9-81ED-4DB2-BD59-A6C34878D82A}">
                    <a16:rowId xmlns:a16="http://schemas.microsoft.com/office/drawing/2014/main" val="1360196"/>
                  </a:ext>
                </a:extLst>
              </a:tr>
              <a:tr h="370840">
                <a:tc>
                  <a:txBody>
                    <a:bodyPr/>
                    <a:lstStyle/>
                    <a:p>
                      <a:pPr algn="ctr">
                        <a:buNone/>
                      </a:pPr>
                      <a:r>
                        <a:rPr lang="en-US" sz="2000"/>
                        <a:t>PR-AUC</a:t>
                      </a:r>
                    </a:p>
                  </a:txBody>
                  <a:tcPr anchor="ctr"/>
                </a:tc>
                <a:tc>
                  <a:txBody>
                    <a:bodyPr/>
                    <a:lstStyle/>
                    <a:p>
                      <a:pPr algn="ctr">
                        <a:buNone/>
                      </a:pPr>
                      <a:r>
                        <a:rPr lang="en-US" sz="2000"/>
                        <a:t>0.94</a:t>
                      </a:r>
                    </a:p>
                  </a:txBody>
                  <a:tcPr anchor="ctr"/>
                </a:tc>
                <a:tc>
                  <a:txBody>
                    <a:bodyPr/>
                    <a:lstStyle/>
                    <a:p>
                      <a:pPr algn="ctr">
                        <a:buNone/>
                      </a:pPr>
                      <a:r>
                        <a:rPr lang="en-US" sz="2000"/>
                        <a:t>0.98</a:t>
                      </a:r>
                    </a:p>
                  </a:txBody>
                  <a:tcPr anchor="ctr"/>
                </a:tc>
                <a:tc>
                  <a:txBody>
                    <a:bodyPr/>
                    <a:lstStyle/>
                    <a:p>
                      <a:pPr algn="ctr">
                        <a:buNone/>
                      </a:pPr>
                      <a:r>
                        <a:rPr lang="en-US" sz="2000"/>
                        <a:t>0.98</a:t>
                      </a:r>
                    </a:p>
                  </a:txBody>
                  <a:tcPr anchor="ctr"/>
                </a:tc>
                <a:extLst>
                  <a:ext uri="{0D108BD9-81ED-4DB2-BD59-A6C34878D82A}">
                    <a16:rowId xmlns:a16="http://schemas.microsoft.com/office/drawing/2014/main" val="318108443"/>
                  </a:ext>
                </a:extLst>
              </a:tr>
              <a:tr h="370840">
                <a:tc>
                  <a:txBody>
                    <a:bodyPr/>
                    <a:lstStyle/>
                    <a:p>
                      <a:pPr algn="ctr">
                        <a:buNone/>
                      </a:pPr>
                      <a:r>
                        <a:rPr lang="en-US" sz="2000" dirty="0"/>
                        <a:t>Precision</a:t>
                      </a:r>
                    </a:p>
                  </a:txBody>
                  <a:tcPr anchor="ctr"/>
                </a:tc>
                <a:tc>
                  <a:txBody>
                    <a:bodyPr/>
                    <a:lstStyle/>
                    <a:p>
                      <a:pPr algn="ctr">
                        <a:buNone/>
                      </a:pPr>
                      <a:r>
                        <a:rPr lang="en-US" sz="2000"/>
                        <a:t>0.94</a:t>
                      </a:r>
                    </a:p>
                  </a:txBody>
                  <a:tcPr anchor="ctr"/>
                </a:tc>
                <a:tc>
                  <a:txBody>
                    <a:bodyPr/>
                    <a:lstStyle/>
                    <a:p>
                      <a:pPr algn="ctr">
                        <a:buNone/>
                      </a:pPr>
                      <a:r>
                        <a:rPr lang="en-US" sz="2000"/>
                        <a:t>0.94</a:t>
                      </a:r>
                    </a:p>
                  </a:txBody>
                  <a:tcPr anchor="ctr"/>
                </a:tc>
                <a:tc>
                  <a:txBody>
                    <a:bodyPr/>
                    <a:lstStyle/>
                    <a:p>
                      <a:pPr algn="ctr">
                        <a:buNone/>
                      </a:pPr>
                      <a:r>
                        <a:rPr lang="en-US" sz="2000"/>
                        <a:t>0.94</a:t>
                      </a:r>
                    </a:p>
                  </a:txBody>
                  <a:tcPr anchor="ctr"/>
                </a:tc>
                <a:extLst>
                  <a:ext uri="{0D108BD9-81ED-4DB2-BD59-A6C34878D82A}">
                    <a16:rowId xmlns:a16="http://schemas.microsoft.com/office/drawing/2014/main" val="2526916909"/>
                  </a:ext>
                </a:extLst>
              </a:tr>
              <a:tr h="370840">
                <a:tc>
                  <a:txBody>
                    <a:bodyPr/>
                    <a:lstStyle/>
                    <a:p>
                      <a:pPr algn="ctr">
                        <a:buNone/>
                      </a:pPr>
                      <a:r>
                        <a:rPr lang="en-US" sz="2000"/>
                        <a:t>Recall</a:t>
                      </a:r>
                    </a:p>
                  </a:txBody>
                  <a:tcPr anchor="ctr"/>
                </a:tc>
                <a:tc>
                  <a:txBody>
                    <a:bodyPr/>
                    <a:lstStyle/>
                    <a:p>
                      <a:pPr algn="ctr">
                        <a:buNone/>
                      </a:pPr>
                      <a:r>
                        <a:rPr lang="en-US" sz="2000"/>
                        <a:t>0.95</a:t>
                      </a:r>
                    </a:p>
                  </a:txBody>
                  <a:tcPr anchor="ctr"/>
                </a:tc>
                <a:tc>
                  <a:txBody>
                    <a:bodyPr/>
                    <a:lstStyle/>
                    <a:p>
                      <a:pPr algn="ctr">
                        <a:buNone/>
                      </a:pPr>
                      <a:r>
                        <a:rPr lang="en-US" sz="2000"/>
                        <a:t>0.95</a:t>
                      </a:r>
                    </a:p>
                  </a:txBody>
                  <a:tcPr anchor="ctr"/>
                </a:tc>
                <a:tc>
                  <a:txBody>
                    <a:bodyPr/>
                    <a:lstStyle/>
                    <a:p>
                      <a:pPr algn="ctr">
                        <a:buNone/>
                      </a:pPr>
                      <a:r>
                        <a:rPr lang="en-US" sz="2000" dirty="0">
                          <a:highlight>
                            <a:srgbClr val="00FF00"/>
                          </a:highlight>
                        </a:rPr>
                        <a:t>0.97</a:t>
                      </a:r>
                    </a:p>
                  </a:txBody>
                  <a:tcPr anchor="ctr"/>
                </a:tc>
                <a:extLst>
                  <a:ext uri="{0D108BD9-81ED-4DB2-BD59-A6C34878D82A}">
                    <a16:rowId xmlns:a16="http://schemas.microsoft.com/office/drawing/2014/main" val="4067457089"/>
                  </a:ext>
                </a:extLst>
              </a:tr>
              <a:tr h="370840">
                <a:tc>
                  <a:txBody>
                    <a:bodyPr/>
                    <a:lstStyle/>
                    <a:p>
                      <a:pPr algn="ctr">
                        <a:buNone/>
                      </a:pPr>
                      <a:r>
                        <a:rPr lang="en-US" sz="2000" dirty="0"/>
                        <a:t>F1 Score </a:t>
                      </a:r>
                    </a:p>
                  </a:txBody>
                  <a:tcPr anchor="ctr"/>
                </a:tc>
                <a:tc>
                  <a:txBody>
                    <a:bodyPr/>
                    <a:lstStyle/>
                    <a:p>
                      <a:pPr algn="ctr">
                        <a:buNone/>
                      </a:pPr>
                      <a:r>
                        <a:rPr lang="en-US" sz="2000" dirty="0"/>
                        <a:t>0.95</a:t>
                      </a:r>
                    </a:p>
                  </a:txBody>
                  <a:tcPr anchor="ctr"/>
                </a:tc>
                <a:tc>
                  <a:txBody>
                    <a:bodyPr/>
                    <a:lstStyle/>
                    <a:p>
                      <a:pPr algn="ctr">
                        <a:buNone/>
                      </a:pPr>
                      <a:r>
                        <a:rPr lang="en-US" sz="2000" dirty="0"/>
                        <a:t>0.95</a:t>
                      </a:r>
                    </a:p>
                  </a:txBody>
                  <a:tcPr anchor="ctr"/>
                </a:tc>
                <a:tc>
                  <a:txBody>
                    <a:bodyPr/>
                    <a:lstStyle/>
                    <a:p>
                      <a:pPr algn="ctr">
                        <a:buNone/>
                      </a:pPr>
                      <a:r>
                        <a:rPr lang="en-US" sz="2000" dirty="0">
                          <a:highlight>
                            <a:srgbClr val="00FF00"/>
                          </a:highlight>
                        </a:rPr>
                        <a:t>0.96</a:t>
                      </a:r>
                    </a:p>
                  </a:txBody>
                  <a:tcPr anchor="ctr"/>
                </a:tc>
                <a:extLst>
                  <a:ext uri="{0D108BD9-81ED-4DB2-BD59-A6C34878D82A}">
                    <a16:rowId xmlns:a16="http://schemas.microsoft.com/office/drawing/2014/main" val="4285927128"/>
                  </a:ext>
                </a:extLst>
              </a:tr>
            </a:tbl>
          </a:graphicData>
        </a:graphic>
      </p:graphicFrame>
      <p:sp>
        <p:nvSpPr>
          <p:cNvPr id="13" name="TextBox 12">
            <a:extLst>
              <a:ext uri="{FF2B5EF4-FFF2-40B4-BE49-F238E27FC236}">
                <a16:creationId xmlns:a16="http://schemas.microsoft.com/office/drawing/2014/main" id="{389949D2-DF1A-A629-9322-E5FB5423493E}"/>
              </a:ext>
            </a:extLst>
          </p:cNvPr>
          <p:cNvSpPr txBox="1"/>
          <p:nvPr/>
        </p:nvSpPr>
        <p:spPr>
          <a:xfrm>
            <a:off x="3797300" y="5283200"/>
            <a:ext cx="5659284" cy="646331"/>
          </a:xfrm>
          <a:prstGeom prst="rect">
            <a:avLst/>
          </a:prstGeom>
          <a:noFill/>
        </p:spPr>
        <p:txBody>
          <a:bodyPr wrap="square" rtlCol="0">
            <a:spAutoFit/>
          </a:bodyPr>
          <a:lstStyle/>
          <a:p>
            <a:r>
              <a:rPr lang="en-US" b="1" dirty="0"/>
              <a:t>Table 1: </a:t>
            </a:r>
            <a:r>
              <a:rPr lang="en-US" dirty="0"/>
              <a:t>Evaluation Metric For Each Model (Test result)</a:t>
            </a:r>
          </a:p>
          <a:p>
            <a:endParaRPr lang="en-US" dirty="0"/>
          </a:p>
        </p:txBody>
      </p:sp>
    </p:spTree>
    <p:extLst>
      <p:ext uri="{BB962C8B-B14F-4D97-AF65-F5344CB8AC3E}">
        <p14:creationId xmlns:p14="http://schemas.microsoft.com/office/powerpoint/2010/main" val="583978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E6A9-DE95-D4E8-192C-886EC2C93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CD238-EE19-53B2-E61D-904324FEA4F6}"/>
              </a:ext>
            </a:extLst>
          </p:cNvPr>
          <p:cNvSpPr>
            <a:spLocks noGrp="1"/>
          </p:cNvSpPr>
          <p:nvPr>
            <p:ph type="title"/>
          </p:nvPr>
        </p:nvSpPr>
        <p:spPr>
          <a:xfrm>
            <a:off x="1690124" y="236447"/>
            <a:ext cx="9414117" cy="743417"/>
          </a:xfrm>
        </p:spPr>
        <p:txBody>
          <a:bodyPr/>
          <a:lstStyle/>
          <a:p>
            <a:r>
              <a:rPr lang="en-US" dirty="0"/>
              <a:t>Results Cont.</a:t>
            </a:r>
          </a:p>
        </p:txBody>
      </p:sp>
      <p:pic>
        <p:nvPicPr>
          <p:cNvPr id="3076" name="Picture 4">
            <a:extLst>
              <a:ext uri="{FF2B5EF4-FFF2-40B4-BE49-F238E27FC236}">
                <a16:creationId xmlns:a16="http://schemas.microsoft.com/office/drawing/2014/main" id="{053A908D-808C-AD30-6593-26ACE9E65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807" y="979864"/>
            <a:ext cx="6153593" cy="51106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A8F34C5-4699-6250-5CB8-B46C5D74C8AF}"/>
              </a:ext>
            </a:extLst>
          </p:cNvPr>
          <p:cNvSpPr txBox="1"/>
          <p:nvPr/>
        </p:nvSpPr>
        <p:spPr>
          <a:xfrm>
            <a:off x="3848100" y="5982009"/>
            <a:ext cx="6096000" cy="369332"/>
          </a:xfrm>
          <a:prstGeom prst="rect">
            <a:avLst/>
          </a:prstGeom>
          <a:noFill/>
        </p:spPr>
        <p:txBody>
          <a:bodyPr wrap="square">
            <a:spAutoFit/>
          </a:bodyPr>
          <a:lstStyle/>
          <a:p>
            <a:pPr algn="ctr"/>
            <a:r>
              <a:rPr lang="en-US" sz="1800" b="1" kern="1200" dirty="0">
                <a:solidFill>
                  <a:srgbClr val="000000"/>
                </a:solidFill>
                <a:effectLst/>
                <a:latin typeface="Calibri" panose="020F0502020204030204" pitchFamily="34" charset="0"/>
                <a:ea typeface="+mn-ea"/>
                <a:cs typeface="+mn-cs"/>
              </a:rPr>
              <a:t>Fig 6: </a:t>
            </a:r>
            <a:r>
              <a:rPr lang="en-US" sz="1800" kern="1200" dirty="0">
                <a:solidFill>
                  <a:srgbClr val="000000"/>
                </a:solidFill>
                <a:effectLst/>
                <a:latin typeface="Calibri" panose="020F0502020204030204" pitchFamily="34" charset="0"/>
                <a:ea typeface="+mn-ea"/>
                <a:cs typeface="+mn-cs"/>
              </a:rPr>
              <a:t>ROC Curve for Each Model</a:t>
            </a:r>
            <a:endParaRPr lang="en-US" dirty="0"/>
          </a:p>
        </p:txBody>
      </p:sp>
    </p:spTree>
    <p:extLst>
      <p:ext uri="{BB962C8B-B14F-4D97-AF65-F5344CB8AC3E}">
        <p14:creationId xmlns:p14="http://schemas.microsoft.com/office/powerpoint/2010/main" val="414944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E9A00-8CD2-DAF5-61B0-8D6746DE3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85F9E-5AD7-3AE7-BFA6-25F7C531B0EE}"/>
              </a:ext>
            </a:extLst>
          </p:cNvPr>
          <p:cNvSpPr>
            <a:spLocks noGrp="1"/>
          </p:cNvSpPr>
          <p:nvPr>
            <p:ph type="title"/>
          </p:nvPr>
        </p:nvSpPr>
        <p:spPr>
          <a:xfrm>
            <a:off x="1690124" y="236447"/>
            <a:ext cx="9414117" cy="743417"/>
          </a:xfrm>
        </p:spPr>
        <p:txBody>
          <a:bodyPr/>
          <a:lstStyle/>
          <a:p>
            <a:r>
              <a:rPr lang="en-US" dirty="0"/>
              <a:t>Results Cont.</a:t>
            </a:r>
          </a:p>
        </p:txBody>
      </p:sp>
      <p:pic>
        <p:nvPicPr>
          <p:cNvPr id="2052" name="Picture 4">
            <a:extLst>
              <a:ext uri="{FF2B5EF4-FFF2-40B4-BE49-F238E27FC236}">
                <a16:creationId xmlns:a16="http://schemas.microsoft.com/office/drawing/2014/main" id="{72E37441-E60C-1CB7-E67C-9634BAC79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5800" y="1040762"/>
            <a:ext cx="6112694" cy="50766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370C47-6210-FCE3-E9B7-9E5FD73983C1}"/>
              </a:ext>
            </a:extLst>
          </p:cNvPr>
          <p:cNvSpPr txBox="1"/>
          <p:nvPr/>
        </p:nvSpPr>
        <p:spPr>
          <a:xfrm>
            <a:off x="3365500" y="6127234"/>
            <a:ext cx="6096000" cy="369332"/>
          </a:xfrm>
          <a:prstGeom prst="rect">
            <a:avLst/>
          </a:prstGeom>
          <a:noFill/>
        </p:spPr>
        <p:txBody>
          <a:bodyPr wrap="square">
            <a:spAutoFit/>
          </a:bodyPr>
          <a:lstStyle/>
          <a:p>
            <a:pPr algn="ctr"/>
            <a:r>
              <a:rPr lang="en-US" sz="1800" b="1" kern="1200" dirty="0">
                <a:solidFill>
                  <a:srgbClr val="000000"/>
                </a:solidFill>
                <a:effectLst/>
                <a:latin typeface="Calibri" panose="020F0502020204030204" pitchFamily="34" charset="0"/>
                <a:ea typeface="+mn-ea"/>
                <a:cs typeface="+mn-cs"/>
              </a:rPr>
              <a:t>Fig </a:t>
            </a:r>
            <a:r>
              <a:rPr lang="en-US" b="1" dirty="0">
                <a:solidFill>
                  <a:srgbClr val="000000"/>
                </a:solidFill>
                <a:latin typeface="Calibri" panose="020F0502020204030204" pitchFamily="34" charset="0"/>
              </a:rPr>
              <a:t>7</a:t>
            </a:r>
            <a:r>
              <a:rPr lang="en-US" sz="1800" b="1" kern="1200" dirty="0">
                <a:solidFill>
                  <a:srgbClr val="000000"/>
                </a:solidFill>
                <a:effectLst/>
                <a:latin typeface="Calibri" panose="020F0502020204030204" pitchFamily="34" charset="0"/>
                <a:ea typeface="+mn-ea"/>
                <a:cs typeface="+mn-cs"/>
              </a:rPr>
              <a:t>: </a:t>
            </a:r>
            <a:r>
              <a:rPr lang="en-US" dirty="0">
                <a:solidFill>
                  <a:srgbClr val="000000"/>
                </a:solidFill>
                <a:latin typeface="Calibri" panose="020F0502020204030204" pitchFamily="34" charset="0"/>
              </a:rPr>
              <a:t>AUC</a:t>
            </a:r>
            <a:r>
              <a:rPr lang="en-US" sz="1800" kern="1200" dirty="0">
                <a:solidFill>
                  <a:srgbClr val="000000"/>
                </a:solidFill>
                <a:effectLst/>
                <a:latin typeface="Calibri" panose="020F0502020204030204" pitchFamily="34" charset="0"/>
                <a:ea typeface="+mn-ea"/>
                <a:cs typeface="+mn-cs"/>
              </a:rPr>
              <a:t> for Each </a:t>
            </a:r>
            <a:r>
              <a:rPr lang="en-US" dirty="0">
                <a:solidFill>
                  <a:srgbClr val="000000"/>
                </a:solidFill>
                <a:latin typeface="Calibri" panose="020F0502020204030204" pitchFamily="34" charset="0"/>
              </a:rPr>
              <a:t>M</a:t>
            </a:r>
            <a:r>
              <a:rPr lang="en-US" sz="1800" kern="1200" dirty="0">
                <a:solidFill>
                  <a:srgbClr val="000000"/>
                </a:solidFill>
                <a:effectLst/>
                <a:latin typeface="Calibri" panose="020F0502020204030204" pitchFamily="34" charset="0"/>
                <a:ea typeface="+mn-ea"/>
                <a:cs typeface="+mn-cs"/>
              </a:rPr>
              <a:t>odel</a:t>
            </a:r>
            <a:endParaRPr lang="en-US" dirty="0"/>
          </a:p>
        </p:txBody>
      </p:sp>
    </p:spTree>
    <p:extLst>
      <p:ext uri="{BB962C8B-B14F-4D97-AF65-F5344CB8AC3E}">
        <p14:creationId xmlns:p14="http://schemas.microsoft.com/office/powerpoint/2010/main" val="1579871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5BC3-9BF2-48E4-7BBB-903397902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6A8D0-6BD1-A8B0-C46D-6009028EBEB9}"/>
              </a:ext>
            </a:extLst>
          </p:cNvPr>
          <p:cNvSpPr>
            <a:spLocks noGrp="1"/>
          </p:cNvSpPr>
          <p:nvPr>
            <p:ph type="title"/>
          </p:nvPr>
        </p:nvSpPr>
        <p:spPr>
          <a:xfrm>
            <a:off x="1690124" y="236447"/>
            <a:ext cx="9414117" cy="743417"/>
          </a:xfrm>
        </p:spPr>
        <p:txBody>
          <a:bodyPr/>
          <a:lstStyle/>
          <a:p>
            <a:r>
              <a:rPr lang="en-US" dirty="0"/>
              <a:t>Conclusions:</a:t>
            </a:r>
          </a:p>
        </p:txBody>
      </p:sp>
      <p:sp>
        <p:nvSpPr>
          <p:cNvPr id="4" name="TextBox 3">
            <a:extLst>
              <a:ext uri="{FF2B5EF4-FFF2-40B4-BE49-F238E27FC236}">
                <a16:creationId xmlns:a16="http://schemas.microsoft.com/office/drawing/2014/main" id="{222DA2C7-44E0-EB8B-5CC6-B1AED7693310}"/>
              </a:ext>
            </a:extLst>
          </p:cNvPr>
          <p:cNvSpPr txBox="1"/>
          <p:nvPr/>
        </p:nvSpPr>
        <p:spPr>
          <a:xfrm>
            <a:off x="2074605" y="1720125"/>
            <a:ext cx="9414117" cy="2308324"/>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Georgia" panose="02040502050405020303" pitchFamily="18" charset="0"/>
              </a:rPr>
              <a:t>Random Forest was found to be the best ML method for classifying LNM using radiomics features based on Recall and F1-score.</a:t>
            </a:r>
          </a:p>
          <a:p>
            <a:pPr marL="342900" indent="-342900">
              <a:buFont typeface="Arial" panose="020B0604020202020204" pitchFamily="34" charset="0"/>
              <a:buChar char="•"/>
            </a:pPr>
            <a:r>
              <a:rPr lang="en-US" sz="2400" dirty="0">
                <a:latin typeface="Georgia" panose="02040502050405020303" pitchFamily="18" charset="0"/>
              </a:rPr>
              <a:t>The findings show that radiomics-based predictive models can achieve high diagnostic accuracy for LNM classification and may serve as critical predictive tools for supporting clinical decision.</a:t>
            </a:r>
          </a:p>
        </p:txBody>
      </p:sp>
    </p:spTree>
    <p:extLst>
      <p:ext uri="{BB962C8B-B14F-4D97-AF65-F5344CB8AC3E}">
        <p14:creationId xmlns:p14="http://schemas.microsoft.com/office/powerpoint/2010/main" val="1770488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DB5D-7740-C204-C601-F226CC213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54FDA-D30E-C296-633B-B094C895F621}"/>
              </a:ext>
            </a:extLst>
          </p:cNvPr>
          <p:cNvSpPr>
            <a:spLocks noGrp="1"/>
          </p:cNvSpPr>
          <p:nvPr>
            <p:ph type="title"/>
          </p:nvPr>
        </p:nvSpPr>
        <p:spPr>
          <a:xfrm>
            <a:off x="1690124" y="236447"/>
            <a:ext cx="9414117" cy="743417"/>
          </a:xfrm>
        </p:spPr>
        <p:txBody>
          <a:bodyPr/>
          <a:lstStyle/>
          <a:p>
            <a:r>
              <a:rPr lang="en-US" dirty="0"/>
              <a:t>Future Work:</a:t>
            </a:r>
          </a:p>
        </p:txBody>
      </p:sp>
      <p:sp>
        <p:nvSpPr>
          <p:cNvPr id="4" name="TextBox 3">
            <a:extLst>
              <a:ext uri="{FF2B5EF4-FFF2-40B4-BE49-F238E27FC236}">
                <a16:creationId xmlns:a16="http://schemas.microsoft.com/office/drawing/2014/main" id="{E34B3983-EA59-0320-32BA-FDA88A24196F}"/>
              </a:ext>
            </a:extLst>
          </p:cNvPr>
          <p:cNvSpPr txBox="1"/>
          <p:nvPr/>
        </p:nvSpPr>
        <p:spPr>
          <a:xfrm>
            <a:off x="2054941" y="1856120"/>
            <a:ext cx="9763433" cy="2308324"/>
          </a:xfrm>
          <a:prstGeom prst="rect">
            <a:avLst/>
          </a:prstGeom>
          <a:noFill/>
        </p:spPr>
        <p:txBody>
          <a:bodyPr wrap="square">
            <a:spAutoFit/>
          </a:bodyPr>
          <a:lstStyle/>
          <a:p>
            <a:pPr marL="457200" indent="-457200">
              <a:buFont typeface="+mj-lt"/>
              <a:buAutoNum type="arabicPeriod"/>
            </a:pPr>
            <a:r>
              <a:rPr lang="en-US" sz="2400" dirty="0">
                <a:latin typeface="Georgia" panose="02040502050405020303" pitchFamily="18" charset="0"/>
              </a:rPr>
              <a:t>Evaluate additional ML methods such as SVM, LDA, Naive Bayes, KNN, Gradient Boosting, etc. </a:t>
            </a:r>
          </a:p>
          <a:p>
            <a:pPr marL="457200" indent="-457200">
              <a:buFont typeface="+mj-lt"/>
              <a:buAutoNum type="arabicPeriod"/>
            </a:pPr>
            <a:r>
              <a:rPr lang="en-US" sz="2400" dirty="0">
                <a:latin typeface="Georgia" panose="02040502050405020303" pitchFamily="18" charset="0"/>
              </a:rPr>
              <a:t>Introduce External Dataset Validation</a:t>
            </a:r>
          </a:p>
          <a:p>
            <a:pPr marL="457200" indent="-457200">
              <a:buFont typeface="+mj-lt"/>
              <a:buAutoNum type="arabicPeriod"/>
            </a:pPr>
            <a:r>
              <a:rPr lang="en-US" sz="2400" dirty="0">
                <a:latin typeface="Georgia" panose="02040502050405020303" pitchFamily="18" charset="0"/>
              </a:rPr>
              <a:t>To address imbalance class, future research will compare sampling methods including </a:t>
            </a:r>
            <a:r>
              <a:rPr lang="en-US" sz="2400" dirty="0" err="1">
                <a:latin typeface="Georgia" panose="02040502050405020303" pitchFamily="18" charset="0"/>
              </a:rPr>
              <a:t>RandomOverSample</a:t>
            </a:r>
            <a:r>
              <a:rPr lang="en-US" sz="2400" dirty="0">
                <a:latin typeface="Georgia" panose="02040502050405020303" pitchFamily="18" charset="0"/>
              </a:rPr>
              <a:t>, </a:t>
            </a:r>
            <a:r>
              <a:rPr lang="en-US" sz="2400" dirty="0" err="1">
                <a:latin typeface="Georgia" panose="02040502050405020303" pitchFamily="18" charset="0"/>
              </a:rPr>
              <a:t>undersampling</a:t>
            </a:r>
            <a:r>
              <a:rPr lang="en-US" sz="2400" dirty="0">
                <a:latin typeface="Georgia" panose="02040502050405020303" pitchFamily="18" charset="0"/>
              </a:rPr>
              <a:t>, etc. </a:t>
            </a:r>
          </a:p>
          <a:p>
            <a:pPr marL="457200" indent="-457200">
              <a:buFont typeface="+mj-lt"/>
              <a:buAutoNum type="arabicPeriod"/>
            </a:pPr>
            <a:r>
              <a:rPr lang="en-US" sz="2400" dirty="0">
                <a:latin typeface="Georgia" panose="02040502050405020303" pitchFamily="18" charset="0"/>
              </a:rPr>
              <a:t>To create interpretable models. </a:t>
            </a:r>
          </a:p>
        </p:txBody>
      </p:sp>
    </p:spTree>
    <p:extLst>
      <p:ext uri="{BB962C8B-B14F-4D97-AF65-F5344CB8AC3E}">
        <p14:creationId xmlns:p14="http://schemas.microsoft.com/office/powerpoint/2010/main" val="3322031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9DDC4-6CDF-E3C1-9B9E-221AF65BA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EC5F2-198D-EFD0-1475-F06F4B384F7C}"/>
              </a:ext>
            </a:extLst>
          </p:cNvPr>
          <p:cNvSpPr>
            <a:spLocks noGrp="1"/>
          </p:cNvSpPr>
          <p:nvPr>
            <p:ph type="title"/>
          </p:nvPr>
        </p:nvSpPr>
        <p:spPr>
          <a:xfrm>
            <a:off x="571499" y="560189"/>
            <a:ext cx="9017977" cy="1060925"/>
          </a:xfrm>
        </p:spPr>
        <p:txBody>
          <a:bodyPr vert="horz" lIns="91440" tIns="45720" rIns="91440" bIns="45720" rtlCol="0" anchor="b" anchorCtr="0">
            <a:normAutofit/>
          </a:bodyPr>
          <a:lstStyle/>
          <a:p>
            <a:r>
              <a:rPr lang="en-US" b="1" i="0" kern="1200">
                <a:latin typeface="Impact" panose="020B0806030902050204" pitchFamily="34" charset="0"/>
                <a:ea typeface="Impact" panose="020B0806030902050204" pitchFamily="34" charset="0"/>
                <a:cs typeface="Arial Black" charset="0"/>
              </a:rPr>
              <a:t>References:</a:t>
            </a:r>
          </a:p>
        </p:txBody>
      </p:sp>
      <p:sp>
        <p:nvSpPr>
          <p:cNvPr id="3" name="TextBox 2">
            <a:extLst>
              <a:ext uri="{FF2B5EF4-FFF2-40B4-BE49-F238E27FC236}">
                <a16:creationId xmlns:a16="http://schemas.microsoft.com/office/drawing/2014/main" id="{46DE15C2-3AF5-6B85-2547-D73BFF66D946}"/>
              </a:ext>
            </a:extLst>
          </p:cNvPr>
          <p:cNvSpPr txBox="1"/>
          <p:nvPr/>
        </p:nvSpPr>
        <p:spPr>
          <a:xfrm>
            <a:off x="571499" y="1863840"/>
            <a:ext cx="9017977" cy="4401303"/>
          </a:xfrm>
          <a:prstGeom prst="rect">
            <a:avLst/>
          </a:prstGeom>
        </p:spPr>
        <p:txBody>
          <a:bodyPr vert="horz" lIns="91440" tIns="45720" rIns="91440" bIns="45720" rtlCol="0">
            <a:normAutofit/>
          </a:bodyPr>
          <a:lstStyle/>
          <a:p>
            <a:pPr marL="228600" indent="-228600">
              <a:lnSpc>
                <a:spcPct val="90000"/>
              </a:lnSpc>
              <a:spcBef>
                <a:spcPts val="1000"/>
              </a:spcBef>
              <a:defRPr/>
            </a:pPr>
            <a:r>
              <a:rPr lang="en-US" sz="1500" dirty="0">
                <a:latin typeface="Tahoma" panose="020B0604030504040204" pitchFamily="34" charset="0"/>
                <a:ea typeface="Tahoma" panose="020B0604030504040204" pitchFamily="34" charset="0"/>
                <a:cs typeface="Tahoma" panose="020B0604030504040204" pitchFamily="34" charset="0"/>
              </a:rPr>
              <a:t>[1] Armato, S. G., McLennan, G., </a:t>
            </a:r>
            <a:r>
              <a:rPr lang="en-US" sz="1500" dirty="0" err="1">
                <a:latin typeface="Tahoma" panose="020B0604030504040204" pitchFamily="34" charset="0"/>
                <a:ea typeface="Tahoma" panose="020B0604030504040204" pitchFamily="34" charset="0"/>
                <a:cs typeface="Tahoma" panose="020B0604030504040204" pitchFamily="34" charset="0"/>
              </a:rPr>
              <a:t>Bidaut</a:t>
            </a:r>
            <a:r>
              <a:rPr lang="en-US" sz="1500" dirty="0">
                <a:latin typeface="Tahoma" panose="020B0604030504040204" pitchFamily="34" charset="0"/>
                <a:ea typeface="Tahoma" panose="020B0604030504040204" pitchFamily="34" charset="0"/>
                <a:cs typeface="Tahoma" panose="020B0604030504040204" pitchFamily="34" charset="0"/>
              </a:rPr>
              <a:t>, L., McNitt-Gray, M. F., Meyer, C. R., Reeves, A. P., Zhao, B., et al. (2011). The Lung Image Database Consortium (LIDC) and Image Database Resource Initiative (IDRI): A Completed Reference Database of Lung Nodules on CT Scans. Medical Physics, 38(2), 915–931.</a:t>
            </a:r>
          </a:p>
          <a:p>
            <a:pPr marL="228600" indent="-228600">
              <a:lnSpc>
                <a:spcPct val="90000"/>
              </a:lnSpc>
              <a:spcBef>
                <a:spcPts val="1000"/>
              </a:spcBef>
              <a:defRPr/>
            </a:pPr>
            <a:endParaRPr lang="en-US" sz="1500" dirty="0">
              <a:latin typeface="Tahoma" panose="020B0604030504040204" pitchFamily="34" charset="0"/>
              <a:ea typeface="Tahoma" panose="020B0604030504040204" pitchFamily="34" charset="0"/>
              <a:cs typeface="Tahoma" panose="020B0604030504040204" pitchFamily="34" charset="0"/>
            </a:endParaRPr>
          </a:p>
          <a:p>
            <a:pPr marL="228600" indent="-228600">
              <a:lnSpc>
                <a:spcPct val="90000"/>
              </a:lnSpc>
              <a:spcBef>
                <a:spcPts val="1000"/>
              </a:spcBef>
              <a:defRPr/>
            </a:pPr>
            <a:r>
              <a:rPr lang="en-US" sz="1500" dirty="0">
                <a:latin typeface="Tahoma" panose="020B0604030504040204" pitchFamily="34" charset="0"/>
                <a:ea typeface="Tahoma" panose="020B0604030504040204" pitchFamily="34" charset="0"/>
                <a:cs typeface="Tahoma" panose="020B0604030504040204" pitchFamily="34" charset="0"/>
              </a:rPr>
              <a:t>[2] van </a:t>
            </a:r>
            <a:r>
              <a:rPr lang="en-US" sz="1500" dirty="0" err="1">
                <a:latin typeface="Tahoma" panose="020B0604030504040204" pitchFamily="34" charset="0"/>
                <a:ea typeface="Tahoma" panose="020B0604030504040204" pitchFamily="34" charset="0"/>
                <a:cs typeface="Tahoma" panose="020B0604030504040204" pitchFamily="34" charset="0"/>
              </a:rPr>
              <a:t>Griethuysen</a:t>
            </a:r>
            <a:r>
              <a:rPr lang="en-US" sz="1500" dirty="0">
                <a:latin typeface="Tahoma" panose="020B0604030504040204" pitchFamily="34" charset="0"/>
                <a:ea typeface="Tahoma" panose="020B0604030504040204" pitchFamily="34" charset="0"/>
                <a:cs typeface="Tahoma" panose="020B0604030504040204" pitchFamily="34" charset="0"/>
              </a:rPr>
              <a:t>, J. J. M., Fedorov, A., Parmar, C., Hosny, A., Aucoin, N., Narayan, V., Beets-Tan, R. G. H., et al. (2017). Computational Radiomics System to Decode the Radiographic Phenotype. Cancer Research, 77(21), e104–e107.</a:t>
            </a:r>
          </a:p>
          <a:p>
            <a:pPr marL="228600" indent="-228600">
              <a:lnSpc>
                <a:spcPct val="90000"/>
              </a:lnSpc>
              <a:spcBef>
                <a:spcPts val="1000"/>
              </a:spcBef>
              <a:defRPr/>
            </a:pPr>
            <a:endParaRPr lang="en-US" sz="1500" dirty="0">
              <a:latin typeface="Tahoma" panose="020B0604030504040204" pitchFamily="34" charset="0"/>
              <a:ea typeface="Tahoma" panose="020B0604030504040204" pitchFamily="34" charset="0"/>
              <a:cs typeface="Tahoma" panose="020B0604030504040204" pitchFamily="34" charset="0"/>
            </a:endParaRPr>
          </a:p>
          <a:p>
            <a:pPr marL="228600" indent="-228600">
              <a:lnSpc>
                <a:spcPct val="90000"/>
              </a:lnSpc>
              <a:spcBef>
                <a:spcPts val="1000"/>
              </a:spcBef>
              <a:defRPr/>
            </a:pPr>
            <a:r>
              <a:rPr lang="en-US" sz="1500" dirty="0">
                <a:latin typeface="Tahoma" panose="020B0604030504040204" pitchFamily="34" charset="0"/>
                <a:ea typeface="Tahoma" panose="020B0604030504040204" pitchFamily="34" charset="0"/>
                <a:cs typeface="Tahoma" panose="020B0604030504040204" pitchFamily="34" charset="0"/>
              </a:rPr>
              <a:t>[3] </a:t>
            </a:r>
            <a:r>
              <a:rPr lang="en-US" sz="1500" dirty="0" err="1">
                <a:latin typeface="Tahoma" panose="020B0604030504040204" pitchFamily="34" charset="0"/>
                <a:ea typeface="Tahoma" panose="020B0604030504040204" pitchFamily="34" charset="0"/>
                <a:cs typeface="Tahoma" panose="020B0604030504040204" pitchFamily="34" charset="0"/>
              </a:rPr>
              <a:t>Zwanenburg</a:t>
            </a:r>
            <a:r>
              <a:rPr lang="en-US" sz="1500" dirty="0">
                <a:latin typeface="Tahoma" panose="020B0604030504040204" pitchFamily="34" charset="0"/>
                <a:ea typeface="Tahoma" panose="020B0604030504040204" pitchFamily="34" charset="0"/>
                <a:cs typeface="Tahoma" panose="020B0604030504040204" pitchFamily="34" charset="0"/>
              </a:rPr>
              <a:t>, A., </a:t>
            </a:r>
            <a:r>
              <a:rPr lang="en-US" sz="1500" dirty="0" err="1">
                <a:latin typeface="Tahoma" panose="020B0604030504040204" pitchFamily="34" charset="0"/>
                <a:ea typeface="Tahoma" panose="020B0604030504040204" pitchFamily="34" charset="0"/>
                <a:cs typeface="Tahoma" panose="020B0604030504040204" pitchFamily="34" charset="0"/>
              </a:rPr>
              <a:t>Vallières</a:t>
            </a:r>
            <a:r>
              <a:rPr lang="en-US" sz="1500" dirty="0">
                <a:latin typeface="Tahoma" panose="020B0604030504040204" pitchFamily="34" charset="0"/>
                <a:ea typeface="Tahoma" panose="020B0604030504040204" pitchFamily="34" charset="0"/>
                <a:cs typeface="Tahoma" panose="020B0604030504040204" pitchFamily="34" charset="0"/>
              </a:rPr>
              <a:t>, M., Abdalah, M. A., Aerts, H. J. W. L., </a:t>
            </a:r>
            <a:r>
              <a:rPr lang="en-US" sz="1500" dirty="0" err="1">
                <a:latin typeface="Tahoma" panose="020B0604030504040204" pitchFamily="34" charset="0"/>
                <a:ea typeface="Tahoma" panose="020B0604030504040204" pitchFamily="34" charset="0"/>
                <a:cs typeface="Tahoma" panose="020B0604030504040204" pitchFamily="34" charset="0"/>
              </a:rPr>
              <a:t>Andrearczyk</a:t>
            </a:r>
            <a:r>
              <a:rPr lang="en-US" sz="1500" dirty="0">
                <a:latin typeface="Tahoma" panose="020B0604030504040204" pitchFamily="34" charset="0"/>
                <a:ea typeface="Tahoma" panose="020B0604030504040204" pitchFamily="34" charset="0"/>
                <a:cs typeface="Tahoma" panose="020B0604030504040204" pitchFamily="34" charset="0"/>
              </a:rPr>
              <a:t>, V., Apte, A., </a:t>
            </a:r>
            <a:r>
              <a:rPr lang="en-US" sz="1500" dirty="0" err="1">
                <a:latin typeface="Tahoma" panose="020B0604030504040204" pitchFamily="34" charset="0"/>
                <a:ea typeface="Tahoma" panose="020B0604030504040204" pitchFamily="34" charset="0"/>
                <a:cs typeface="Tahoma" panose="020B0604030504040204" pitchFamily="34" charset="0"/>
              </a:rPr>
              <a:t>Ashrafinia</a:t>
            </a:r>
            <a:r>
              <a:rPr lang="en-US" sz="1500" dirty="0">
                <a:latin typeface="Tahoma" panose="020B0604030504040204" pitchFamily="34" charset="0"/>
                <a:ea typeface="Tahoma" panose="020B0604030504040204" pitchFamily="34" charset="0"/>
                <a:cs typeface="Tahoma" panose="020B0604030504040204" pitchFamily="34" charset="0"/>
              </a:rPr>
              <a:t>, S., et al. (2020). The Image Biomarker </a:t>
            </a:r>
            <a:r>
              <a:rPr lang="en-US" sz="1500" dirty="0" err="1">
                <a:latin typeface="Tahoma" panose="020B0604030504040204" pitchFamily="34" charset="0"/>
                <a:ea typeface="Tahoma" panose="020B0604030504040204" pitchFamily="34" charset="0"/>
                <a:cs typeface="Tahoma" panose="020B0604030504040204" pitchFamily="34" charset="0"/>
              </a:rPr>
              <a:t>Standardisation</a:t>
            </a:r>
            <a:r>
              <a:rPr lang="en-US" sz="1500" dirty="0">
                <a:latin typeface="Tahoma" panose="020B0604030504040204" pitchFamily="34" charset="0"/>
                <a:ea typeface="Tahoma" panose="020B0604030504040204" pitchFamily="34" charset="0"/>
                <a:cs typeface="Tahoma" panose="020B0604030504040204" pitchFamily="34" charset="0"/>
              </a:rPr>
              <a:t> Initiative: Standardized Quantitative Radiomics for High-Throughput Image-based Phenotyping. Radiology, 295(2), 328–338.</a:t>
            </a:r>
          </a:p>
          <a:p>
            <a:pPr marL="228600" indent="-228600">
              <a:lnSpc>
                <a:spcPct val="90000"/>
              </a:lnSpc>
              <a:spcBef>
                <a:spcPts val="1000"/>
              </a:spcBef>
              <a:defRPr/>
            </a:pPr>
            <a:endParaRPr lang="en-US" sz="1500" dirty="0">
              <a:latin typeface="Tahoma" panose="020B0604030504040204" pitchFamily="34" charset="0"/>
              <a:ea typeface="Tahoma" panose="020B0604030504040204" pitchFamily="34" charset="0"/>
              <a:cs typeface="Tahoma" panose="020B0604030504040204" pitchFamily="34" charset="0"/>
            </a:endParaRPr>
          </a:p>
          <a:p>
            <a:pPr marL="228600" indent="-228600">
              <a:lnSpc>
                <a:spcPct val="90000"/>
              </a:lnSpc>
              <a:spcBef>
                <a:spcPts val="1000"/>
              </a:spcBef>
              <a:defRPr/>
            </a:pPr>
            <a:r>
              <a:rPr lang="en-US" sz="1500" dirty="0">
                <a:latin typeface="Tahoma" panose="020B0604030504040204" pitchFamily="34" charset="0"/>
                <a:ea typeface="Tahoma" panose="020B0604030504040204" pitchFamily="34" charset="0"/>
                <a:cs typeface="Tahoma" panose="020B0604030504040204" pitchFamily="34" charset="0"/>
              </a:rPr>
              <a:t>[4] Peng, H., Long, F., &amp; Ding, C. (2005). Feature Selection Based on Mutual Information: Criteria of Max-Dependency, Max-Relevance, and Min-Redundancy. IEEE Transactions on Pattern Analysis and Machine Intelligence, 27(8), 1226–1238.</a:t>
            </a:r>
          </a:p>
          <a:p>
            <a:pPr marL="228600" indent="-228600">
              <a:lnSpc>
                <a:spcPct val="90000"/>
              </a:lnSpc>
              <a:spcBef>
                <a:spcPts val="1000"/>
              </a:spcBef>
              <a:defRPr/>
            </a:pPr>
            <a:endParaRPr lang="en-US" sz="1500" dirty="0">
              <a:latin typeface="Tahoma" panose="020B0604030504040204" pitchFamily="34" charset="0"/>
              <a:ea typeface="Tahoma" panose="020B0604030504040204" pitchFamily="34" charset="0"/>
              <a:cs typeface="Tahoma" panose="020B0604030504040204" pitchFamily="34" charset="0"/>
            </a:endParaRPr>
          </a:p>
          <a:p>
            <a:pPr marL="228600" indent="-228600">
              <a:lnSpc>
                <a:spcPct val="90000"/>
              </a:lnSpc>
              <a:spcBef>
                <a:spcPts val="1000"/>
              </a:spcBef>
              <a:defRPr/>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1B47707E-CF3F-36BB-368A-94A08BDA4F3C}"/>
              </a:ext>
            </a:extLst>
          </p:cNvPr>
          <p:cNvSpPr txBox="1"/>
          <p:nvPr/>
        </p:nvSpPr>
        <p:spPr>
          <a:xfrm>
            <a:off x="2054941" y="1322720"/>
            <a:ext cx="7502013"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3159914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4D1D-09FE-6A49-8325-6C2450E7B815}"/>
              </a:ext>
            </a:extLst>
          </p:cNvPr>
          <p:cNvSpPr>
            <a:spLocks noGrp="1"/>
          </p:cNvSpPr>
          <p:nvPr>
            <p:ph type="title"/>
          </p:nvPr>
        </p:nvSpPr>
        <p:spPr>
          <a:xfrm>
            <a:off x="608048" y="549848"/>
            <a:ext cx="9414117" cy="743417"/>
          </a:xfrm>
        </p:spPr>
        <p:txBody>
          <a:bodyPr/>
          <a:lstStyle/>
          <a:p>
            <a:r>
              <a:rPr lang="en-US" dirty="0"/>
              <a:t>Acknowledgements</a:t>
            </a:r>
          </a:p>
        </p:txBody>
      </p:sp>
      <p:sp>
        <p:nvSpPr>
          <p:cNvPr id="4" name="TextBox 3">
            <a:extLst>
              <a:ext uri="{FF2B5EF4-FFF2-40B4-BE49-F238E27FC236}">
                <a16:creationId xmlns:a16="http://schemas.microsoft.com/office/drawing/2014/main" id="{0B5B5881-4889-1F9B-D89C-80F5F10E43C3}"/>
              </a:ext>
            </a:extLst>
          </p:cNvPr>
          <p:cNvSpPr txBox="1"/>
          <p:nvPr/>
        </p:nvSpPr>
        <p:spPr>
          <a:xfrm>
            <a:off x="6803923" y="2094580"/>
            <a:ext cx="5181599" cy="2554545"/>
          </a:xfrm>
          <a:prstGeom prst="rect">
            <a:avLst/>
          </a:prstGeom>
          <a:noFill/>
        </p:spPr>
        <p:txBody>
          <a:bodyPr wrap="square" rtlCol="0">
            <a:spAutoFit/>
          </a:bodyPr>
          <a:lstStyle/>
          <a:p>
            <a:r>
              <a:rPr lang="en-US" sz="2000" dirty="0">
                <a:solidFill>
                  <a:schemeClr val="bg1"/>
                </a:solidFill>
                <a:latin typeface="Georgia" panose="02040502050405020303" pitchFamily="18" charset="0"/>
              </a:rPr>
              <a:t>Faculty Advisor:</a:t>
            </a:r>
          </a:p>
          <a:p>
            <a:endParaRPr lang="en-US" sz="2000" dirty="0">
              <a:solidFill>
                <a:schemeClr val="bg1"/>
              </a:solidFill>
              <a:latin typeface="Georgia" panose="02040502050405020303" pitchFamily="18" charset="0"/>
            </a:endParaRPr>
          </a:p>
          <a:p>
            <a:r>
              <a:rPr lang="en-US" sz="2000" b="1" dirty="0">
                <a:solidFill>
                  <a:schemeClr val="bg1"/>
                </a:solidFill>
                <a:latin typeface="Georgia" panose="02040502050405020303" pitchFamily="18" charset="0"/>
              </a:rPr>
              <a:t>Dr. Emmanuel Thompson</a:t>
            </a:r>
          </a:p>
          <a:p>
            <a:r>
              <a:rPr lang="en-US" sz="2000" dirty="0">
                <a:solidFill>
                  <a:schemeClr val="bg1"/>
                </a:solidFill>
                <a:latin typeface="Georgia" panose="02040502050405020303" pitchFamily="18" charset="0"/>
              </a:rPr>
              <a:t>Professor of Actuarial Science &amp; Statistics</a:t>
            </a:r>
          </a:p>
          <a:p>
            <a:r>
              <a:rPr lang="en-US" sz="2000" dirty="0">
                <a:solidFill>
                  <a:schemeClr val="bg1"/>
                </a:solidFill>
                <a:latin typeface="Georgia" panose="02040502050405020303" pitchFamily="18" charset="0"/>
              </a:rPr>
              <a:t>Department of Mathematics</a:t>
            </a:r>
          </a:p>
          <a:p>
            <a:r>
              <a:rPr lang="en-US" sz="2000" dirty="0">
                <a:solidFill>
                  <a:schemeClr val="bg1"/>
                </a:solidFill>
                <a:latin typeface="Georgia" panose="02040502050405020303" pitchFamily="18" charset="0"/>
              </a:rPr>
              <a:t>Southeast Missouri State University</a:t>
            </a:r>
          </a:p>
          <a:p>
            <a:r>
              <a:rPr lang="en-US" sz="2000" dirty="0">
                <a:solidFill>
                  <a:schemeClr val="bg1"/>
                </a:solidFill>
                <a:latin typeface="Georgia" panose="02040502050405020303" pitchFamily="18" charset="0"/>
              </a:rPr>
              <a:t>Email: ethompson@semo.edu</a:t>
            </a:r>
          </a:p>
          <a:p>
            <a:endParaRPr lang="en-US" sz="2000" dirty="0">
              <a:solidFill>
                <a:schemeClr val="bg1"/>
              </a:solidFill>
              <a:latin typeface="Georgia" panose="02040502050405020303" pitchFamily="18" charset="0"/>
            </a:endParaRPr>
          </a:p>
        </p:txBody>
      </p:sp>
      <p:sp>
        <p:nvSpPr>
          <p:cNvPr id="5" name="TextBox 4">
            <a:extLst>
              <a:ext uri="{FF2B5EF4-FFF2-40B4-BE49-F238E27FC236}">
                <a16:creationId xmlns:a16="http://schemas.microsoft.com/office/drawing/2014/main" id="{AD4B785D-F70F-C699-FB1F-82DBB095147F}"/>
              </a:ext>
            </a:extLst>
          </p:cNvPr>
          <p:cNvSpPr txBox="1"/>
          <p:nvPr/>
        </p:nvSpPr>
        <p:spPr>
          <a:xfrm>
            <a:off x="875071" y="2133907"/>
            <a:ext cx="5181599" cy="2554545"/>
          </a:xfrm>
          <a:prstGeom prst="rect">
            <a:avLst/>
          </a:prstGeom>
          <a:noFill/>
        </p:spPr>
        <p:txBody>
          <a:bodyPr wrap="square" rtlCol="0">
            <a:spAutoFit/>
          </a:bodyPr>
          <a:lstStyle/>
          <a:p>
            <a:r>
              <a:rPr lang="en-US" sz="2000" dirty="0">
                <a:solidFill>
                  <a:schemeClr val="bg1"/>
                </a:solidFill>
                <a:latin typeface="Georgia" panose="02040502050405020303" pitchFamily="18" charset="0"/>
              </a:rPr>
              <a:t>Faculty Advisor:</a:t>
            </a:r>
          </a:p>
          <a:p>
            <a:endParaRPr lang="en-US" sz="2000" dirty="0">
              <a:solidFill>
                <a:schemeClr val="bg1"/>
              </a:solidFill>
              <a:latin typeface="Georgia" panose="02040502050405020303" pitchFamily="18" charset="0"/>
            </a:endParaRPr>
          </a:p>
          <a:p>
            <a:r>
              <a:rPr lang="en-US" sz="2000" b="1" dirty="0">
                <a:solidFill>
                  <a:schemeClr val="bg1"/>
                </a:solidFill>
                <a:latin typeface="Georgia" panose="02040502050405020303" pitchFamily="18" charset="0"/>
              </a:rPr>
              <a:t>Dr. Mohamed Abu </a:t>
            </a:r>
            <a:r>
              <a:rPr lang="en-US" sz="2000" b="1" dirty="0" err="1">
                <a:solidFill>
                  <a:schemeClr val="bg1"/>
                </a:solidFill>
                <a:latin typeface="Georgia" panose="02040502050405020303" pitchFamily="18" charset="0"/>
              </a:rPr>
              <a:t>Sheha</a:t>
            </a:r>
            <a:endParaRPr lang="en-US" sz="2000" b="1" dirty="0">
              <a:solidFill>
                <a:schemeClr val="bg1"/>
              </a:solidFill>
              <a:latin typeface="Georgia" panose="02040502050405020303" pitchFamily="18" charset="0"/>
            </a:endParaRPr>
          </a:p>
          <a:p>
            <a:r>
              <a:rPr lang="en-US" sz="2000" dirty="0">
                <a:solidFill>
                  <a:schemeClr val="bg1"/>
                </a:solidFill>
                <a:latin typeface="Georgia" panose="02040502050405020303" pitchFamily="18" charset="0"/>
              </a:rPr>
              <a:t>Assistant Professor of Statistics</a:t>
            </a:r>
          </a:p>
          <a:p>
            <a:r>
              <a:rPr lang="en-US" sz="2000" dirty="0">
                <a:solidFill>
                  <a:schemeClr val="bg1"/>
                </a:solidFill>
                <a:latin typeface="Georgia" panose="02040502050405020303" pitchFamily="18" charset="0"/>
              </a:rPr>
              <a:t>Department of Mathematics</a:t>
            </a:r>
          </a:p>
          <a:p>
            <a:r>
              <a:rPr lang="en-US" sz="2000" dirty="0">
                <a:solidFill>
                  <a:schemeClr val="bg1"/>
                </a:solidFill>
                <a:latin typeface="Georgia" panose="02040502050405020303" pitchFamily="18" charset="0"/>
              </a:rPr>
              <a:t>Southeast Missouri State University</a:t>
            </a:r>
          </a:p>
          <a:p>
            <a:r>
              <a:rPr lang="en-US" sz="2000" dirty="0">
                <a:solidFill>
                  <a:schemeClr val="bg1"/>
                </a:solidFill>
                <a:latin typeface="Georgia" panose="02040502050405020303" pitchFamily="18" charset="0"/>
              </a:rPr>
              <a:t>Email: mabusheha@semo.edu</a:t>
            </a:r>
          </a:p>
          <a:p>
            <a:endParaRPr lang="en-US" sz="20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3718318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5723DC-036B-E1D0-3EA1-F36796D6406B}"/>
              </a:ext>
            </a:extLst>
          </p:cNvPr>
          <p:cNvSpPr>
            <a:spLocks noGrp="1"/>
          </p:cNvSpPr>
          <p:nvPr>
            <p:ph type="body" sz="half" idx="2"/>
          </p:nvPr>
        </p:nvSpPr>
        <p:spPr/>
        <p:txBody>
          <a:bodyPr/>
          <a:lstStyle/>
          <a:p>
            <a:r>
              <a:rPr lang="en-US" dirty="0"/>
              <a:t>Questions / Suggestions :</a:t>
            </a:r>
          </a:p>
        </p:txBody>
      </p:sp>
    </p:spTree>
    <p:extLst>
      <p:ext uri="{BB962C8B-B14F-4D97-AF65-F5344CB8AC3E}">
        <p14:creationId xmlns:p14="http://schemas.microsoft.com/office/powerpoint/2010/main" val="2129662846"/>
      </p:ext>
    </p:extLst>
  </p:cSld>
  <p:clrMapOvr>
    <a:masterClrMapping/>
  </p:clrMapOvr>
</p:sld>
</file>

<file path=ppt/theme/theme1.xml><?xml version="1.0" encoding="utf-8"?>
<a:theme xmlns:a="http://schemas.openxmlformats.org/drawingml/2006/main" name="Southeast Missouri State University Slide Master">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CAB6051-7A86-AA4E-A216-A709E7530080}" vid="{7B934D76-59E7-C449-AF48-0A42365C6D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21069ca-9969-43c2-b896-ca9ce04c18d0" xsi:nil="true"/>
    <lcf76f155ced4ddcb4097134ff3c332f xmlns="b775f4c9-a559-4597-8848-aa8201ef1d9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92D5859BB74B4692E9C069B09AFA96" ma:contentTypeVersion="19" ma:contentTypeDescription="Create a new document." ma:contentTypeScope="" ma:versionID="c7aa2257f6fa3763fe61dd75ab0f5bc4">
  <xsd:schema xmlns:xsd="http://www.w3.org/2001/XMLSchema" xmlns:xs="http://www.w3.org/2001/XMLSchema" xmlns:p="http://schemas.microsoft.com/office/2006/metadata/properties" xmlns:ns2="b775f4c9-a559-4597-8848-aa8201ef1d93" xmlns:ns3="b21069ca-9969-43c2-b896-ca9ce04c18d0" targetNamespace="http://schemas.microsoft.com/office/2006/metadata/properties" ma:root="true" ma:fieldsID="1b5c2e7b8d45871820e4cd1f402c65eb" ns2:_="" ns3:_="">
    <xsd:import namespace="b775f4c9-a559-4597-8848-aa8201ef1d93"/>
    <xsd:import namespace="b21069ca-9969-43c2-b896-ca9ce04c18d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75f4c9-a559-4597-8848-aa8201ef1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6ca499c-1aa8-4a6a-8cf2-04c54bd73c9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1069ca-9969-43c2-b896-ca9ce04c18d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9ca1e35-c0b8-4172-926a-e7d730e55cee}" ma:internalName="TaxCatchAll" ma:showField="CatchAllData" ma:web="b21069ca-9969-43c2-b896-ca9ce04c18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D7C619-F500-4531-BFF1-EA101C951FC0}">
  <ds:schemaRefs>
    <ds:schemaRef ds:uri="http://schemas.microsoft.com/sharepoint/v3/contenttype/forms"/>
  </ds:schemaRefs>
</ds:datastoreItem>
</file>

<file path=customXml/itemProps2.xml><?xml version="1.0" encoding="utf-8"?>
<ds:datastoreItem xmlns:ds="http://schemas.openxmlformats.org/officeDocument/2006/customXml" ds:itemID="{77EC129D-6CF8-4BF5-9DCA-3B312057650A}">
  <ds:schemaRefs>
    <ds:schemaRef ds:uri="http://schemas.microsoft.com/office/2006/metadata/properties"/>
    <ds:schemaRef ds:uri="http://schemas.microsoft.com/office/infopath/2007/PartnerControls"/>
    <ds:schemaRef ds:uri="b21069ca-9969-43c2-b896-ca9ce04c18d0"/>
    <ds:schemaRef ds:uri="b775f4c9-a559-4597-8848-aa8201ef1d93"/>
  </ds:schemaRefs>
</ds:datastoreItem>
</file>

<file path=customXml/itemProps3.xml><?xml version="1.0" encoding="utf-8"?>
<ds:datastoreItem xmlns:ds="http://schemas.openxmlformats.org/officeDocument/2006/customXml" ds:itemID="{CF2A1E14-356E-404B-B7D1-48137E987B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75f4c9-a559-4597-8848-aa8201ef1d93"/>
    <ds:schemaRef ds:uri="b21069ca-9969-43c2-b896-ca9ce04c18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brand-powerpoint-template-2025</Template>
  <TotalTime>1260</TotalTime>
  <Words>1482</Words>
  <Application>Microsoft Office PowerPoint</Application>
  <PresentationFormat>Widescreen</PresentationFormat>
  <Paragraphs>181</Paragraphs>
  <Slides>24</Slides>
  <Notes>18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Courier New</vt:lpstr>
      <vt:lpstr>Georgia</vt:lpstr>
      <vt:lpstr>Impact</vt:lpstr>
      <vt:lpstr>Montserrat</vt:lpstr>
      <vt:lpstr>Tahoma</vt:lpstr>
      <vt:lpstr>Southeast Missouri State University Slide Master</vt:lpstr>
      <vt:lpstr>Radiomics-Based Machine Learning Framework for Pulmonary Nodule Malignancy Classification Using Computed Tomography Images </vt:lpstr>
      <vt:lpstr>Outline:</vt:lpstr>
      <vt:lpstr>Introduction:</vt:lpstr>
      <vt:lpstr>Introduction Cont.</vt:lpstr>
      <vt:lpstr>Introduction Cont.</vt:lpstr>
      <vt:lpstr>Introduction Cont.</vt:lpstr>
      <vt:lpstr>Methods :</vt:lpstr>
      <vt:lpstr>Methods Cont.</vt:lpstr>
      <vt:lpstr>Methods Cont. </vt:lpstr>
      <vt:lpstr>Methods Cont.</vt:lpstr>
      <vt:lpstr>Methods Cont.</vt:lpstr>
      <vt:lpstr>Results:  </vt:lpstr>
      <vt:lpstr>Results Cont.</vt:lpstr>
      <vt:lpstr>Results(EDA):  </vt:lpstr>
      <vt:lpstr>Results Cont.</vt:lpstr>
      <vt:lpstr>Results Cont.</vt:lpstr>
      <vt:lpstr>Results Cont.</vt:lpstr>
      <vt:lpstr>Results Cont.</vt:lpstr>
      <vt:lpstr>Results Cont.</vt:lpstr>
      <vt:lpstr>Conclusions:</vt:lpstr>
      <vt:lpstr>Future Work:</vt:lpstr>
      <vt:lpstr>References:</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Aki34 Lk</dc:creator>
  <cp:lastModifiedBy>Aki34 Lk</cp:lastModifiedBy>
  <cp:revision>12</cp:revision>
  <dcterms:created xsi:type="dcterms:W3CDTF">2026-03-23T07:38:25Z</dcterms:created>
  <dcterms:modified xsi:type="dcterms:W3CDTF">2026-03-28T05:34:59Z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0x0101007C92D5859BB74B4692E9C069B09AFA96</vt:lpwstr>
  </property>
</Properties>
</file>